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4"/>
  </p:notesMasterIdLst>
  <p:sldIdLst>
    <p:sldId id="256" r:id="rId2"/>
    <p:sldId id="257" r:id="rId3"/>
    <p:sldId id="258" r:id="rId4"/>
    <p:sldId id="267" r:id="rId5"/>
    <p:sldId id="259" r:id="rId6"/>
    <p:sldId id="260" r:id="rId7"/>
    <p:sldId id="261" r:id="rId8"/>
    <p:sldId id="262" r:id="rId9"/>
    <p:sldId id="263" r:id="rId10"/>
    <p:sldId id="264" r:id="rId11"/>
    <p:sldId id="265" r:id="rId12"/>
    <p:sldId id="266" r:id="rId13"/>
  </p:sldIdLst>
  <p:sldSz cx="9144000" cy="5143500" type="screen16x9"/>
  <p:notesSz cx="6858000" cy="9144000"/>
  <p:embeddedFontLst>
    <p:embeddedFont>
      <p:font typeface="Geist" panose="020B0604020202020204" charset="0"/>
      <p:regular r:id="rId15"/>
      <p:bold r:id="rId1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A95171E-095F-4493-AB5E-3A6A6D3F9B0B}" v="14" dt="2025-11-12T07:24:25.24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2" d="100"/>
          <a:sy n="102" d="100"/>
        </p:scale>
        <p:origin x="72" y="9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3a077b87aca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 name="Google Shape;59;g3a077b87aca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3a077b87aca_0_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 name="Google Shape;69;g3a077b87aca_0_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
        <p:cNvGrpSpPr/>
        <p:nvPr/>
      </p:nvGrpSpPr>
      <p:grpSpPr>
        <a:xfrm>
          <a:off x="0" y="0"/>
          <a:ext cx="0" cy="0"/>
          <a:chOff x="0" y="0"/>
          <a:chExt cx="0" cy="0"/>
        </a:xfrm>
      </p:grpSpPr>
      <p:sp>
        <p:nvSpPr>
          <p:cNvPr id="78" name="Google Shape;78;g3a077b87aca_0_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 name="Google Shape;79;g3a077b87aca_0_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g3a077b87aca_0_1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g3a077b87aca_0_1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3a077b87aca_0_1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3a077b87aca_0_1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g3a077b87aca_0_1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 name="Google Shape;109;g3a077b87aca_0_1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3a077b87aca_0_1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 name="Google Shape;119;g3a077b87aca_0_1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g3a077b87aca_0_1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9" name="Google Shape;129;g3a077b87aca_0_1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3a077b87aca_0_13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9" name="Google Shape;139;g3a077b87aca_0_1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3a077b87aca_0_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 name="Google Shape;148;g3a077b87aca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pic>
        <p:nvPicPr>
          <p:cNvPr id="54" name="Google Shape;54;p13" title="ES.S1.png"/>
          <p:cNvPicPr preferRelativeResize="0"/>
          <p:nvPr/>
        </p:nvPicPr>
        <p:blipFill rotWithShape="1">
          <a:blip r:embed="rId3">
            <a:alphaModFix/>
          </a:blip>
          <a:srcRect b="47073"/>
          <a:stretch/>
        </p:blipFill>
        <p:spPr>
          <a:xfrm>
            <a:off x="3575" y="0"/>
            <a:ext cx="9136850" cy="2722349"/>
          </a:xfrm>
          <a:prstGeom prst="rect">
            <a:avLst/>
          </a:prstGeom>
          <a:noFill/>
          <a:ln>
            <a:noFill/>
          </a:ln>
        </p:spPr>
      </p:pic>
      <p:pic>
        <p:nvPicPr>
          <p:cNvPr id="55" name="Google Shape;55;p13" title="ES.S1.png"/>
          <p:cNvPicPr preferRelativeResize="0"/>
          <p:nvPr/>
        </p:nvPicPr>
        <p:blipFill rotWithShape="1">
          <a:blip r:embed="rId3">
            <a:alphaModFix/>
          </a:blip>
          <a:srcRect t="98415"/>
          <a:stretch/>
        </p:blipFill>
        <p:spPr>
          <a:xfrm>
            <a:off x="3575" y="5080568"/>
            <a:ext cx="9136850" cy="81501"/>
          </a:xfrm>
          <a:prstGeom prst="rect">
            <a:avLst/>
          </a:prstGeom>
          <a:noFill/>
          <a:ln>
            <a:noFill/>
          </a:ln>
        </p:spPr>
      </p:pic>
      <p:sp>
        <p:nvSpPr>
          <p:cNvPr id="56" name="Google Shape;56;p13"/>
          <p:cNvSpPr txBox="1"/>
          <p:nvPr/>
        </p:nvSpPr>
        <p:spPr>
          <a:xfrm>
            <a:off x="187569" y="2833637"/>
            <a:ext cx="8952856" cy="2094524"/>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800" b="1" dirty="0">
                <a:latin typeface="Geist"/>
                <a:ea typeface="Geist"/>
                <a:cs typeface="Geist"/>
                <a:sym typeface="Geist"/>
              </a:rPr>
              <a:t>Team Details</a:t>
            </a:r>
            <a:endParaRPr sz="1800" b="1" dirty="0">
              <a:latin typeface="Geist"/>
              <a:ea typeface="Geist"/>
              <a:cs typeface="Geist"/>
              <a:sym typeface="Geist"/>
            </a:endParaRPr>
          </a:p>
          <a:p>
            <a:pPr marL="0" lvl="0" indent="0" algn="l" rtl="0">
              <a:spcBef>
                <a:spcPts val="0"/>
              </a:spcBef>
              <a:spcAft>
                <a:spcPts val="0"/>
              </a:spcAft>
              <a:buNone/>
            </a:pPr>
            <a:endParaRPr sz="1800" b="1" dirty="0">
              <a:latin typeface="Geist"/>
              <a:ea typeface="Geist"/>
              <a:cs typeface="Geist"/>
              <a:sym typeface="Geist"/>
            </a:endParaRPr>
          </a:p>
          <a:p>
            <a:pPr marL="914400" lvl="1" indent="-342900">
              <a:buSzPts val="1800"/>
              <a:buFont typeface="Geist"/>
              <a:buAutoNum type="alphaLcPeriod"/>
            </a:pPr>
            <a:r>
              <a:rPr lang="en-GB" sz="1800" dirty="0">
                <a:latin typeface="Times New Roman" panose="02020603050405020304" pitchFamily="18" charset="0"/>
                <a:ea typeface="Geist"/>
                <a:cs typeface="Times New Roman" panose="02020603050405020304" pitchFamily="18" charset="0"/>
                <a:sym typeface="Geist"/>
              </a:rPr>
              <a:t>Team name: </a:t>
            </a:r>
            <a:r>
              <a:rPr lang="en-IN" sz="1800" dirty="0" err="1">
                <a:latin typeface="Times New Roman" panose="02020603050405020304" pitchFamily="18" charset="0"/>
                <a:cs typeface="Times New Roman" panose="02020603050405020304" pitchFamily="18" charset="0"/>
              </a:rPr>
              <a:t>AgriFin</a:t>
            </a:r>
            <a:r>
              <a:rPr lang="en-IN" sz="1800" dirty="0">
                <a:latin typeface="Times New Roman" panose="02020603050405020304" pitchFamily="18" charset="0"/>
                <a:cs typeface="Times New Roman" panose="02020603050405020304" pitchFamily="18" charset="0"/>
              </a:rPr>
              <a:t> Innovators</a:t>
            </a:r>
            <a:endParaRPr sz="1800" dirty="0">
              <a:latin typeface="Times New Roman" panose="02020603050405020304" pitchFamily="18" charset="0"/>
              <a:ea typeface="Geist"/>
              <a:cs typeface="Times New Roman" panose="02020603050405020304" pitchFamily="18" charset="0"/>
              <a:sym typeface="Geist"/>
            </a:endParaRPr>
          </a:p>
          <a:p>
            <a:pPr marL="914400" lvl="1" indent="-342900" algn="l" rtl="0">
              <a:spcBef>
                <a:spcPts val="0"/>
              </a:spcBef>
              <a:spcAft>
                <a:spcPts val="0"/>
              </a:spcAft>
              <a:buSzPts val="1800"/>
              <a:buFont typeface="Geist"/>
              <a:buAutoNum type="alphaLcPeriod"/>
            </a:pPr>
            <a:r>
              <a:rPr lang="en-GB" sz="1800" dirty="0">
                <a:latin typeface="Times New Roman" panose="02020603050405020304" pitchFamily="18" charset="0"/>
                <a:ea typeface="Geist"/>
                <a:cs typeface="Times New Roman" panose="02020603050405020304" pitchFamily="18" charset="0"/>
                <a:sym typeface="Geist"/>
              </a:rPr>
              <a:t>Team leader name: </a:t>
            </a:r>
            <a:r>
              <a:rPr lang="en-GB" sz="1800" dirty="0" err="1">
                <a:latin typeface="Times New Roman" panose="02020603050405020304" pitchFamily="18" charset="0"/>
                <a:ea typeface="Geist"/>
                <a:cs typeface="Times New Roman" panose="02020603050405020304" pitchFamily="18" charset="0"/>
                <a:sym typeface="Geist"/>
              </a:rPr>
              <a:t>Sudarshanam</a:t>
            </a:r>
            <a:r>
              <a:rPr lang="en-GB" sz="1800" dirty="0">
                <a:latin typeface="Times New Roman" panose="02020603050405020304" pitchFamily="18" charset="0"/>
                <a:ea typeface="Geist"/>
                <a:cs typeface="Times New Roman" panose="02020603050405020304" pitchFamily="18" charset="0"/>
                <a:sym typeface="Geist"/>
              </a:rPr>
              <a:t> Yessasvini</a:t>
            </a:r>
            <a:endParaRPr sz="1800" dirty="0">
              <a:latin typeface="Times New Roman" panose="02020603050405020304" pitchFamily="18" charset="0"/>
              <a:ea typeface="Geist"/>
              <a:cs typeface="Times New Roman" panose="02020603050405020304" pitchFamily="18" charset="0"/>
              <a:sym typeface="Geist"/>
            </a:endParaRPr>
          </a:p>
          <a:p>
            <a:pPr marL="914400" lvl="1" indent="-342900">
              <a:buSzPts val="1800"/>
              <a:buFont typeface="Geist"/>
              <a:buAutoNum type="alphaLcPeriod"/>
            </a:pPr>
            <a:r>
              <a:rPr lang="en-GB" sz="1800" dirty="0">
                <a:latin typeface="Times New Roman" panose="02020603050405020304" pitchFamily="18" charset="0"/>
                <a:ea typeface="Geist"/>
                <a:cs typeface="Times New Roman" panose="02020603050405020304" pitchFamily="18" charset="0"/>
                <a:sym typeface="Geist"/>
              </a:rPr>
              <a:t>Problem Statement:</a:t>
            </a:r>
            <a:r>
              <a:rPr lang="en-GB" dirty="0">
                <a:latin typeface="Times New Roman" panose="02020603050405020304" pitchFamily="18" charset="0"/>
                <a:ea typeface="Geist"/>
                <a:cs typeface="Times New Roman" panose="02020603050405020304" pitchFamily="18" charset="0"/>
                <a:sym typeface="Geist"/>
              </a:rPr>
              <a:t> </a:t>
            </a:r>
            <a:r>
              <a:rPr lang="en-US" dirty="0">
                <a:latin typeface="Times New Roman" panose="02020603050405020304" pitchFamily="18" charset="0"/>
                <a:cs typeface="Times New Roman" panose="02020603050405020304" pitchFamily="18" charset="0"/>
              </a:rPr>
              <a:t>Landless and tenant farmers, who cultivate over 30% of India’s farmland, are excluded from formal credit systems due to lack of land ownership and collateral. This results in heavy dependence on informal moneylenders at exploitative interest rates, perpetuating rural debt and inequality.</a:t>
            </a:r>
          </a:p>
          <a:p>
            <a:pPr marL="914400" lvl="1" indent="-342900" algn="l" rtl="0">
              <a:spcBef>
                <a:spcPts val="0"/>
              </a:spcBef>
              <a:spcAft>
                <a:spcPts val="0"/>
              </a:spcAft>
              <a:buSzPts val="1800"/>
              <a:buFont typeface="Geist"/>
              <a:buAutoNum type="alphaLcPeriod"/>
            </a:pPr>
            <a:endParaRPr sz="1800" dirty="0">
              <a:latin typeface="Geist"/>
              <a:ea typeface="Geist"/>
              <a:cs typeface="Geist"/>
              <a:sym typeface="Geist"/>
            </a:endParaRPr>
          </a:p>
          <a:p>
            <a:pPr marL="0" lvl="0" indent="0" algn="l" rtl="0">
              <a:spcBef>
                <a:spcPts val="0"/>
              </a:spcBef>
              <a:spcAft>
                <a:spcPts val="0"/>
              </a:spcAft>
              <a:buNone/>
            </a:pPr>
            <a:endParaRPr sz="1800" b="1" dirty="0">
              <a:latin typeface="Geist"/>
              <a:ea typeface="Geist"/>
              <a:cs typeface="Geist"/>
              <a:sym typeface="Geis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pic>
        <p:nvPicPr>
          <p:cNvPr id="61" name="Google Shape;61;p14" title="ES.S2.png"/>
          <p:cNvPicPr preferRelativeResize="0"/>
          <p:nvPr/>
        </p:nvPicPr>
        <p:blipFill rotWithShape="1">
          <a:blip r:embed="rId3">
            <a:alphaModFix/>
          </a:blip>
          <a:srcRect t="97977"/>
          <a:stretch/>
        </p:blipFill>
        <p:spPr>
          <a:xfrm>
            <a:off x="0" y="5043428"/>
            <a:ext cx="9143998" cy="104100"/>
          </a:xfrm>
          <a:prstGeom prst="rect">
            <a:avLst/>
          </a:prstGeom>
          <a:noFill/>
          <a:ln>
            <a:noFill/>
          </a:ln>
        </p:spPr>
      </p:pic>
      <p:pic>
        <p:nvPicPr>
          <p:cNvPr id="62" name="Google Shape;62;p14" title="ES.S2.png"/>
          <p:cNvPicPr preferRelativeResize="0"/>
          <p:nvPr/>
        </p:nvPicPr>
        <p:blipFill rotWithShape="1">
          <a:blip r:embed="rId3">
            <a:alphaModFix/>
          </a:blip>
          <a:srcRect r="82528" b="88416"/>
          <a:stretch/>
        </p:blipFill>
        <p:spPr>
          <a:xfrm>
            <a:off x="0" y="0"/>
            <a:ext cx="1328673" cy="495901"/>
          </a:xfrm>
          <a:prstGeom prst="rect">
            <a:avLst/>
          </a:prstGeom>
          <a:noFill/>
          <a:ln>
            <a:noFill/>
          </a:ln>
        </p:spPr>
      </p:pic>
      <p:sp>
        <p:nvSpPr>
          <p:cNvPr id="63" name="Google Shape;63;p14"/>
          <p:cNvSpPr txBox="1"/>
          <p:nvPr/>
        </p:nvSpPr>
        <p:spPr>
          <a:xfrm>
            <a:off x="417750" y="740025"/>
            <a:ext cx="8943000" cy="561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600" b="1">
                <a:latin typeface="Geist"/>
                <a:ea typeface="Geist"/>
                <a:cs typeface="Geist"/>
                <a:sym typeface="Geist"/>
              </a:rPr>
              <a:t>Brief about the idea</a:t>
            </a:r>
            <a:endParaRPr sz="1600" b="1">
              <a:latin typeface="Geist"/>
              <a:ea typeface="Geist"/>
              <a:cs typeface="Geist"/>
              <a:sym typeface="Geist"/>
            </a:endParaRPr>
          </a:p>
        </p:txBody>
      </p:sp>
      <p:pic>
        <p:nvPicPr>
          <p:cNvPr id="64" name="Google Shape;64;p14" title="ES.S2.png"/>
          <p:cNvPicPr preferRelativeResize="0"/>
          <p:nvPr/>
        </p:nvPicPr>
        <p:blipFill rotWithShape="1">
          <a:blip r:embed="rId3">
            <a:alphaModFix/>
          </a:blip>
          <a:srcRect l="82528" b="88416"/>
          <a:stretch/>
        </p:blipFill>
        <p:spPr>
          <a:xfrm>
            <a:off x="7815325" y="0"/>
            <a:ext cx="1328673" cy="495901"/>
          </a:xfrm>
          <a:prstGeom prst="rect">
            <a:avLst/>
          </a:prstGeom>
          <a:noFill/>
          <a:ln>
            <a:noFill/>
          </a:ln>
        </p:spPr>
      </p:pic>
      <p:pic>
        <p:nvPicPr>
          <p:cNvPr id="65" name="Google Shape;65;p14" title="ES.S2.png"/>
          <p:cNvPicPr preferRelativeResize="0"/>
          <p:nvPr/>
        </p:nvPicPr>
        <p:blipFill rotWithShape="1">
          <a:blip r:embed="rId3">
            <a:alphaModFix/>
          </a:blip>
          <a:srcRect l="32484" r="31501" b="88416"/>
          <a:stretch/>
        </p:blipFill>
        <p:spPr>
          <a:xfrm>
            <a:off x="3399151" y="0"/>
            <a:ext cx="2738802" cy="495901"/>
          </a:xfrm>
          <a:prstGeom prst="rect">
            <a:avLst/>
          </a:prstGeom>
          <a:noFill/>
          <a:ln>
            <a:noFill/>
          </a:ln>
        </p:spPr>
      </p:pic>
      <p:sp>
        <p:nvSpPr>
          <p:cNvPr id="66" name="Google Shape;66;p14"/>
          <p:cNvSpPr txBox="1"/>
          <p:nvPr/>
        </p:nvSpPr>
        <p:spPr>
          <a:xfrm>
            <a:off x="417750" y="1211385"/>
            <a:ext cx="8562127" cy="1691834"/>
          </a:xfrm>
          <a:prstGeom prst="rect">
            <a:avLst/>
          </a:prstGeom>
          <a:noFill/>
          <a:ln>
            <a:noFill/>
          </a:ln>
        </p:spPr>
        <p:txBody>
          <a:bodyPr spcFirstLastPara="1" wrap="square" lIns="91425" tIns="91425" rIns="91425" bIns="91425" anchor="t" anchorCtr="0">
            <a:noAutofit/>
          </a:bodyPr>
          <a:lstStyle/>
          <a:p>
            <a:r>
              <a:rPr lang="en-US" b="1" dirty="0" err="1">
                <a:latin typeface="Times New Roman" panose="02020603050405020304" pitchFamily="18" charset="0"/>
                <a:cs typeface="Times New Roman" panose="02020603050405020304" pitchFamily="18" charset="0"/>
              </a:rPr>
              <a:t>DhartiKrishi-Sahayata</a:t>
            </a:r>
            <a:r>
              <a:rPr lang="en-US" dirty="0">
                <a:latin typeface="Times New Roman" panose="02020603050405020304" pitchFamily="18" charset="0"/>
                <a:cs typeface="Times New Roman" panose="02020603050405020304" pitchFamily="18" charset="0"/>
              </a:rPr>
              <a:t> is an AI-powered platform that builds a </a:t>
            </a:r>
            <a:r>
              <a:rPr lang="en-US" b="1" dirty="0">
                <a:latin typeface="Times New Roman" panose="02020603050405020304" pitchFamily="18" charset="0"/>
                <a:cs typeface="Times New Roman" panose="02020603050405020304" pitchFamily="18" charset="0"/>
              </a:rPr>
              <a:t>digital, collateral-free credit identity</a:t>
            </a:r>
            <a:r>
              <a:rPr lang="en-US" dirty="0">
                <a:latin typeface="Times New Roman" panose="02020603050405020304" pitchFamily="18" charset="0"/>
                <a:cs typeface="Times New Roman" panose="02020603050405020304" pitchFamily="18" charset="0"/>
              </a:rPr>
              <a:t> for tenant farmers and sharecroppers using </a:t>
            </a:r>
            <a:r>
              <a:rPr lang="en-US" b="1" dirty="0">
                <a:latin typeface="Times New Roman" panose="02020603050405020304" pitchFamily="18" charset="0"/>
                <a:cs typeface="Times New Roman" panose="02020603050405020304" pitchFamily="18" charset="0"/>
              </a:rPr>
              <a:t>Agri Stack</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satellite NDVI</a:t>
            </a:r>
            <a:r>
              <a:rPr lang="en-US" dirty="0">
                <a:latin typeface="Times New Roman" panose="02020603050405020304" pitchFamily="18" charset="0"/>
                <a:cs typeface="Times New Roman" panose="02020603050405020304" pitchFamily="18" charset="0"/>
              </a:rPr>
              <a:t>, and </a:t>
            </a:r>
            <a:r>
              <a:rPr lang="en-US" b="1" dirty="0">
                <a:latin typeface="Times New Roman" panose="02020603050405020304" pitchFamily="18" charset="0"/>
                <a:cs typeface="Times New Roman" panose="02020603050405020304" pitchFamily="18" charset="0"/>
              </a:rPr>
              <a:t>alternative transaction data</a:t>
            </a:r>
            <a:r>
              <a:rPr lang="en-US" dirty="0">
                <a:latin typeface="Times New Roman" panose="02020603050405020304" pitchFamily="18" charset="0"/>
                <a:cs typeface="Times New Roman" panose="02020603050405020304" pitchFamily="18" charset="0"/>
              </a:rPr>
              <a: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It generates a dynamic, explainable </a:t>
            </a:r>
            <a:r>
              <a:rPr lang="en-US" b="1" dirty="0">
                <a:latin typeface="Times New Roman" panose="02020603050405020304" pitchFamily="18" charset="0"/>
                <a:cs typeface="Times New Roman" panose="02020603050405020304" pitchFamily="18" charset="0"/>
              </a:rPr>
              <a:t>Tenant Farmer Credit Score (TCS)</a:t>
            </a:r>
            <a:r>
              <a:rPr lang="en-US" dirty="0">
                <a:latin typeface="Times New Roman" panose="02020603050405020304" pitchFamily="18" charset="0"/>
                <a:cs typeface="Times New Roman" panose="02020603050405020304" pitchFamily="18" charset="0"/>
              </a:rPr>
              <a:t>, enabling banks and NBFCs to safely extend loans to previously unbanked farmers.</a:t>
            </a:r>
          </a:p>
          <a:p>
            <a:r>
              <a:rPr lang="en-US" dirty="0">
                <a:latin typeface="Times New Roman" panose="02020603050405020304" pitchFamily="18" charset="0"/>
                <a:cs typeface="Times New Roman" panose="02020603050405020304" pitchFamily="18" charset="0"/>
              </a:rPr>
              <a:t>The platform integrates farmer onboarding, credit scoring, real-time monitoring, and risk alerts into a seamless system for financial institutions.</a:t>
            </a:r>
          </a:p>
          <a:p>
            <a:pPr marL="0" lvl="0" indent="0" algn="l" rtl="0">
              <a:spcBef>
                <a:spcPts val="0"/>
              </a:spcBef>
              <a:spcAft>
                <a:spcPts val="0"/>
              </a:spcAft>
              <a:buNone/>
            </a:pPr>
            <a:endParaRPr dirty="0">
              <a:latin typeface="Geist"/>
              <a:ea typeface="Geist"/>
              <a:cs typeface="Geist"/>
              <a:sym typeface="Geis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pic>
        <p:nvPicPr>
          <p:cNvPr id="71" name="Google Shape;71;p15" title="ES.S2.png"/>
          <p:cNvPicPr preferRelativeResize="0"/>
          <p:nvPr/>
        </p:nvPicPr>
        <p:blipFill rotWithShape="1">
          <a:blip r:embed="rId3">
            <a:alphaModFix/>
          </a:blip>
          <a:srcRect t="97977"/>
          <a:stretch/>
        </p:blipFill>
        <p:spPr>
          <a:xfrm>
            <a:off x="0" y="5043428"/>
            <a:ext cx="9143998" cy="104100"/>
          </a:xfrm>
          <a:prstGeom prst="rect">
            <a:avLst/>
          </a:prstGeom>
          <a:noFill/>
          <a:ln>
            <a:noFill/>
          </a:ln>
        </p:spPr>
      </p:pic>
      <p:pic>
        <p:nvPicPr>
          <p:cNvPr id="72" name="Google Shape;72;p15" title="ES.S2.png"/>
          <p:cNvPicPr preferRelativeResize="0"/>
          <p:nvPr/>
        </p:nvPicPr>
        <p:blipFill rotWithShape="1">
          <a:blip r:embed="rId3">
            <a:alphaModFix/>
          </a:blip>
          <a:srcRect r="82528" b="88416"/>
          <a:stretch/>
        </p:blipFill>
        <p:spPr>
          <a:xfrm>
            <a:off x="0" y="0"/>
            <a:ext cx="1328673" cy="495901"/>
          </a:xfrm>
          <a:prstGeom prst="rect">
            <a:avLst/>
          </a:prstGeom>
          <a:noFill/>
          <a:ln>
            <a:noFill/>
          </a:ln>
        </p:spPr>
      </p:pic>
      <p:pic>
        <p:nvPicPr>
          <p:cNvPr id="73" name="Google Shape;73;p15" title="ES.S2.png"/>
          <p:cNvPicPr preferRelativeResize="0"/>
          <p:nvPr/>
        </p:nvPicPr>
        <p:blipFill rotWithShape="1">
          <a:blip r:embed="rId3">
            <a:alphaModFix/>
          </a:blip>
          <a:srcRect l="82528" b="88416"/>
          <a:stretch/>
        </p:blipFill>
        <p:spPr>
          <a:xfrm>
            <a:off x="7815325" y="0"/>
            <a:ext cx="1328673" cy="495901"/>
          </a:xfrm>
          <a:prstGeom prst="rect">
            <a:avLst/>
          </a:prstGeom>
          <a:noFill/>
          <a:ln>
            <a:noFill/>
          </a:ln>
        </p:spPr>
      </p:pic>
      <p:sp>
        <p:nvSpPr>
          <p:cNvPr id="74" name="Google Shape;74;p15"/>
          <p:cNvSpPr txBox="1"/>
          <p:nvPr/>
        </p:nvSpPr>
        <p:spPr>
          <a:xfrm>
            <a:off x="617092" y="655485"/>
            <a:ext cx="8302920" cy="3472766"/>
          </a:xfrm>
          <a:prstGeom prst="rect">
            <a:avLst/>
          </a:prstGeom>
          <a:noFill/>
          <a:ln>
            <a:noFill/>
          </a:ln>
        </p:spPr>
        <p:txBody>
          <a:bodyPr spcFirstLastPara="1" wrap="square" lIns="91425" tIns="91425" rIns="91425" bIns="91425" anchor="t" anchorCtr="0">
            <a:noAutofit/>
          </a:bodyPr>
          <a:lstStyle/>
          <a:p>
            <a:r>
              <a:rPr lang="en-US" sz="1200" b="1" dirty="0">
                <a:latin typeface="Times New Roman" panose="02020603050405020304" pitchFamily="18" charset="0"/>
                <a:cs typeface="Times New Roman" panose="02020603050405020304" pitchFamily="18" charset="0"/>
              </a:rPr>
              <a:t>Opportunities:</a:t>
            </a:r>
          </a:p>
          <a:p>
            <a:r>
              <a:rPr lang="en-US" sz="1200" dirty="0">
                <a:latin typeface="Times New Roman" panose="02020603050405020304" pitchFamily="18" charset="0"/>
                <a:cs typeface="Times New Roman" panose="02020603050405020304" pitchFamily="18" charset="0"/>
              </a:rPr>
              <a:t>3+ crore tenant farmers in India are invisible to formal credit systems.</a:t>
            </a:r>
          </a:p>
          <a:p>
            <a:r>
              <a:rPr lang="en-US" sz="1200" dirty="0">
                <a:latin typeface="Times New Roman" panose="02020603050405020304" pitchFamily="18" charset="0"/>
                <a:cs typeface="Times New Roman" panose="02020603050405020304" pitchFamily="18" charset="0"/>
              </a:rPr>
              <a:t>Estimated </a:t>
            </a:r>
            <a:r>
              <a:rPr lang="en-US" sz="1200" b="1" dirty="0">
                <a:latin typeface="Times New Roman" panose="02020603050405020304" pitchFamily="18" charset="0"/>
                <a:cs typeface="Times New Roman" panose="02020603050405020304" pitchFamily="18" charset="0"/>
              </a:rPr>
              <a:t>$15 billion</a:t>
            </a:r>
            <a:r>
              <a:rPr lang="en-US" sz="1200" dirty="0">
                <a:latin typeface="Times New Roman" panose="02020603050405020304" pitchFamily="18" charset="0"/>
                <a:cs typeface="Times New Roman" panose="02020603050405020304" pitchFamily="18" charset="0"/>
              </a:rPr>
              <a:t> untapped </a:t>
            </a:r>
            <a:r>
              <a:rPr lang="en-US" sz="1200" dirty="0" err="1">
                <a:latin typeface="Times New Roman" panose="02020603050405020304" pitchFamily="18" charset="0"/>
                <a:cs typeface="Times New Roman" panose="02020603050405020304" pitchFamily="18" charset="0"/>
              </a:rPr>
              <a:t>agri</a:t>
            </a:r>
            <a:r>
              <a:rPr lang="en-US" sz="1200" dirty="0">
                <a:latin typeface="Times New Roman" panose="02020603050405020304" pitchFamily="18" charset="0"/>
                <a:cs typeface="Times New Roman" panose="02020603050405020304" pitchFamily="18" charset="0"/>
              </a:rPr>
              <a:t>-lending opportunity.</a:t>
            </a:r>
          </a:p>
          <a:p>
            <a:r>
              <a:rPr lang="en-US" sz="1200" dirty="0">
                <a:latin typeface="Times New Roman" panose="02020603050405020304" pitchFamily="18" charset="0"/>
                <a:cs typeface="Times New Roman" panose="02020603050405020304" pitchFamily="18" charset="0"/>
              </a:rPr>
              <a:t>Supports national priorities of </a:t>
            </a:r>
            <a:r>
              <a:rPr lang="en-US" sz="1200" b="1" dirty="0">
                <a:latin typeface="Times New Roman" panose="02020603050405020304" pitchFamily="18" charset="0"/>
                <a:cs typeface="Times New Roman" panose="02020603050405020304" pitchFamily="18" charset="0"/>
              </a:rPr>
              <a:t>financial inclusion</a:t>
            </a:r>
            <a:r>
              <a:rPr lang="en-US" sz="1200" dirty="0">
                <a:latin typeface="Times New Roman" panose="02020603050405020304" pitchFamily="18" charset="0"/>
                <a:cs typeface="Times New Roman" panose="02020603050405020304" pitchFamily="18" charset="0"/>
              </a:rPr>
              <a:t>, </a:t>
            </a:r>
            <a:r>
              <a:rPr lang="en-US" sz="1200" b="1" dirty="0">
                <a:latin typeface="Times New Roman" panose="02020603050405020304" pitchFamily="18" charset="0"/>
                <a:cs typeface="Times New Roman" panose="02020603050405020304" pitchFamily="18" charset="0"/>
              </a:rPr>
              <a:t>Agri Stack adoption</a:t>
            </a:r>
            <a:r>
              <a:rPr lang="en-US" sz="1200" dirty="0">
                <a:latin typeface="Times New Roman" panose="02020603050405020304" pitchFamily="18" charset="0"/>
                <a:cs typeface="Times New Roman" panose="02020603050405020304" pitchFamily="18" charset="0"/>
              </a:rPr>
              <a:t>, and </a:t>
            </a:r>
            <a:r>
              <a:rPr lang="en-US" sz="1200" b="1" dirty="0">
                <a:latin typeface="Times New Roman" panose="02020603050405020304" pitchFamily="18" charset="0"/>
                <a:cs typeface="Times New Roman" panose="02020603050405020304" pitchFamily="18" charset="0"/>
              </a:rPr>
              <a:t>digital credit enablement</a:t>
            </a:r>
            <a:r>
              <a:rPr lang="en-US" sz="1200" dirty="0">
                <a:latin typeface="Times New Roman" panose="02020603050405020304" pitchFamily="18" charset="0"/>
                <a:cs typeface="Times New Roman" panose="02020603050405020304" pitchFamily="18" charset="0"/>
              </a:rPr>
              <a:t>.</a:t>
            </a:r>
          </a:p>
          <a:p>
            <a:r>
              <a:rPr lang="en-US" sz="1200" dirty="0">
                <a:latin typeface="Times New Roman" panose="02020603050405020304" pitchFamily="18" charset="0"/>
                <a:cs typeface="Times New Roman" panose="02020603050405020304" pitchFamily="18" charset="0"/>
              </a:rPr>
              <a:t>Aligns with </a:t>
            </a:r>
            <a:r>
              <a:rPr lang="en-US" sz="1200" b="1" dirty="0">
                <a:latin typeface="Times New Roman" panose="02020603050405020304" pitchFamily="18" charset="0"/>
                <a:cs typeface="Times New Roman" panose="02020603050405020304" pitchFamily="18" charset="0"/>
              </a:rPr>
              <a:t>NABARD’s goal</a:t>
            </a:r>
            <a:r>
              <a:rPr lang="en-US" sz="1200" dirty="0">
                <a:latin typeface="Times New Roman" panose="02020603050405020304" pitchFamily="18" charset="0"/>
                <a:cs typeface="Times New Roman" panose="02020603050405020304" pitchFamily="18" charset="0"/>
              </a:rPr>
              <a:t> of improving rural credit access using AI and satellite data.</a:t>
            </a:r>
          </a:p>
          <a:p>
            <a:endParaRPr lang="en-US" sz="1200" dirty="0">
              <a:latin typeface="Times New Roman" panose="02020603050405020304" pitchFamily="18" charset="0"/>
              <a:cs typeface="Times New Roman" panose="02020603050405020304" pitchFamily="18" charset="0"/>
            </a:endParaRPr>
          </a:p>
          <a:p>
            <a:r>
              <a:rPr lang="en-US" sz="1200" b="1" dirty="0">
                <a:latin typeface="Times New Roman" panose="02020603050405020304" pitchFamily="18" charset="0"/>
                <a:cs typeface="Times New Roman" panose="02020603050405020304" pitchFamily="18" charset="0"/>
              </a:rPr>
              <a:t>How Different Is It from Existing Solutions:</a:t>
            </a:r>
          </a:p>
          <a:p>
            <a:endParaRPr lang="en-US" sz="1200" b="1" dirty="0">
              <a:latin typeface="Times New Roman" panose="02020603050405020304" pitchFamily="18" charset="0"/>
              <a:cs typeface="Times New Roman" panose="02020603050405020304" pitchFamily="18" charset="0"/>
            </a:endParaRPr>
          </a:p>
          <a:p>
            <a:pPr marL="0" lvl="0" indent="0" algn="l" rtl="0">
              <a:spcBef>
                <a:spcPts val="0"/>
              </a:spcBef>
              <a:spcAft>
                <a:spcPts val="0"/>
              </a:spcAft>
              <a:buNone/>
            </a:pPr>
            <a:endParaRPr sz="1600" b="1" dirty="0">
              <a:latin typeface="Geist"/>
              <a:ea typeface="Geist"/>
              <a:cs typeface="Geist"/>
              <a:sym typeface="Geist"/>
            </a:endParaRPr>
          </a:p>
        </p:txBody>
      </p:sp>
      <p:pic>
        <p:nvPicPr>
          <p:cNvPr id="76" name="Google Shape;76;p15" title="ES.S2.png"/>
          <p:cNvPicPr preferRelativeResize="0"/>
          <p:nvPr/>
        </p:nvPicPr>
        <p:blipFill rotWithShape="1">
          <a:blip r:embed="rId3">
            <a:alphaModFix/>
          </a:blip>
          <a:srcRect l="32484" r="31501" b="88416"/>
          <a:stretch/>
        </p:blipFill>
        <p:spPr>
          <a:xfrm>
            <a:off x="3399151" y="0"/>
            <a:ext cx="2738802" cy="495901"/>
          </a:xfrm>
          <a:prstGeom prst="rect">
            <a:avLst/>
          </a:prstGeom>
          <a:noFill/>
          <a:ln>
            <a:noFill/>
          </a:ln>
        </p:spPr>
      </p:pic>
      <p:pic>
        <p:nvPicPr>
          <p:cNvPr id="3" name="Picture 2" descr="A screenshot of a computer&#10;&#10;AI-generated content may be incorrect.">
            <a:extLst>
              <a:ext uri="{FF2B5EF4-FFF2-40B4-BE49-F238E27FC236}">
                <a16:creationId xmlns:a16="http://schemas.microsoft.com/office/drawing/2014/main" id="{6B1B6CCA-1CDE-A910-1895-583ED4202B7B}"/>
              </a:ext>
            </a:extLst>
          </p:cNvPr>
          <p:cNvPicPr>
            <a:picLocks noChangeAspect="1"/>
          </p:cNvPicPr>
          <p:nvPr/>
        </p:nvPicPr>
        <p:blipFill>
          <a:blip r:embed="rId4"/>
          <a:stretch>
            <a:fillRect/>
          </a:stretch>
        </p:blipFill>
        <p:spPr>
          <a:xfrm>
            <a:off x="594606" y="2189500"/>
            <a:ext cx="5497873" cy="1814229"/>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9F1FFBD-972E-D001-CC41-702D78C06115}"/>
              </a:ext>
            </a:extLst>
          </p:cNvPr>
          <p:cNvSpPr txBox="1"/>
          <p:nvPr/>
        </p:nvSpPr>
        <p:spPr>
          <a:xfrm>
            <a:off x="633045" y="142122"/>
            <a:ext cx="8010770" cy="6771084"/>
          </a:xfrm>
          <a:prstGeom prst="rect">
            <a:avLst/>
          </a:prstGeom>
          <a:noFill/>
        </p:spPr>
        <p:txBody>
          <a:bodyPr wrap="square">
            <a:spAutoFit/>
          </a:bodyPr>
          <a:lstStyle/>
          <a:p>
            <a:pPr>
              <a:buNone/>
            </a:pPr>
            <a:r>
              <a:rPr lang="en-US" b="1" dirty="0"/>
              <a:t>How It Solves the Problem:</a:t>
            </a:r>
          </a:p>
          <a:p>
            <a:pPr>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For Farmers:</a:t>
            </a:r>
            <a:r>
              <a:rPr lang="en-US" dirty="0">
                <a:latin typeface="Times New Roman" panose="02020603050405020304" pitchFamily="18" charset="0"/>
                <a:cs typeface="Times New Roman" panose="02020603050405020304" pitchFamily="18" charset="0"/>
              </a:rPr>
              <a:t> Provides access to fair, collateral-free credit, helping escape informal lending cycles.</a:t>
            </a:r>
          </a:p>
          <a:p>
            <a:pPr>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For Lenders:</a:t>
            </a:r>
            <a:r>
              <a:rPr lang="en-US" dirty="0">
                <a:latin typeface="Times New Roman" panose="02020603050405020304" pitchFamily="18" charset="0"/>
                <a:cs typeface="Times New Roman" panose="02020603050405020304" pitchFamily="18" charset="0"/>
              </a:rPr>
              <a:t> Enables entry into a new low-risk </a:t>
            </a:r>
            <a:r>
              <a:rPr lang="en-US" dirty="0" err="1">
                <a:latin typeface="Times New Roman" panose="02020603050405020304" pitchFamily="18" charset="0"/>
                <a:cs typeface="Times New Roman" panose="02020603050405020304" pitchFamily="18" charset="0"/>
              </a:rPr>
              <a:t>agri</a:t>
            </a:r>
            <a:r>
              <a:rPr lang="en-US" dirty="0">
                <a:latin typeface="Times New Roman" panose="02020603050405020304" pitchFamily="18" charset="0"/>
                <a:cs typeface="Times New Roman" panose="02020603050405020304" pitchFamily="18" charset="0"/>
              </a:rPr>
              <a:t>-lending segment through AI-backed credit scoring.</a:t>
            </a:r>
          </a:p>
          <a:p>
            <a:pPr>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For NABARD/Government:</a:t>
            </a:r>
            <a:r>
              <a:rPr lang="en-US" dirty="0">
                <a:latin typeface="Times New Roman" panose="02020603050405020304" pitchFamily="18" charset="0"/>
                <a:cs typeface="Times New Roman" panose="02020603050405020304" pitchFamily="18" charset="0"/>
              </a:rPr>
              <a:t> Achieves true financial inclusion using Agri Stack and AI for data-driven policymaking.</a:t>
            </a:r>
          </a:p>
          <a:p>
            <a:pPr>
              <a:buNone/>
            </a:pPr>
            <a:r>
              <a:rPr lang="en-US" dirty="0">
                <a:latin typeface="Times New Roman" panose="02020603050405020304" pitchFamily="18" charset="0"/>
                <a:cs typeface="Times New Roman" panose="02020603050405020304" pitchFamily="18" charset="0"/>
              </a:rPr>
              <a:t>The solution transforms the </a:t>
            </a:r>
            <a:r>
              <a:rPr lang="en-US" b="1" dirty="0">
                <a:latin typeface="Times New Roman" panose="02020603050405020304" pitchFamily="18" charset="0"/>
                <a:cs typeface="Times New Roman" panose="02020603050405020304" pitchFamily="18" charset="0"/>
              </a:rPr>
              <a:t>“invisible” farmer into a visible, credit-eligible entity</a:t>
            </a:r>
            <a:r>
              <a:rPr lang="en-US" dirty="0">
                <a:latin typeface="Times New Roman" panose="02020603050405020304" pitchFamily="18" charset="0"/>
                <a:cs typeface="Times New Roman" panose="02020603050405020304" pitchFamily="18" charset="0"/>
              </a:rPr>
              <a:t> using a combination of verified identity, land usage, and satellite-derived performance indicators.</a:t>
            </a:r>
          </a:p>
          <a:p>
            <a:pPr>
              <a:buNone/>
            </a:pPr>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USP (Unique Selling Proposition):</a:t>
            </a:r>
          </a:p>
          <a:p>
            <a:r>
              <a:rPr lang="en-US" b="1" dirty="0">
                <a:latin typeface="Times New Roman" panose="02020603050405020304" pitchFamily="18" charset="0"/>
                <a:cs typeface="Times New Roman" panose="02020603050405020304" pitchFamily="18" charset="0"/>
              </a:rPr>
              <a:t>Tenant Farmer Credit Score (TCS):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Proprietary AI model designed for farmers without land collateral.</a:t>
            </a:r>
          </a:p>
          <a:p>
            <a:r>
              <a:rPr lang="en-US" b="1" dirty="0">
                <a:latin typeface="Times New Roman" panose="02020603050405020304" pitchFamily="18" charset="0"/>
                <a:cs typeface="Times New Roman" panose="02020603050405020304" pitchFamily="18" charset="0"/>
              </a:rPr>
              <a:t>Dynamic Scoring Engine: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Real-time updates using NDVI crop health and weather insights.</a:t>
            </a:r>
          </a:p>
          <a:p>
            <a:r>
              <a:rPr lang="en-US" b="1" dirty="0">
                <a:latin typeface="Times New Roman" panose="02020603050405020304" pitchFamily="18" charset="0"/>
                <a:cs typeface="Times New Roman" panose="02020603050405020304" pitchFamily="18" charset="0"/>
              </a:rPr>
              <a:t>Explainable AI (XAI):</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Transparent risk reports for lenders, increasing trust.</a:t>
            </a:r>
          </a:p>
          <a:p>
            <a:r>
              <a:rPr lang="en-US" b="1" dirty="0">
                <a:latin typeface="Times New Roman" panose="02020603050405020304" pitchFamily="18" charset="0"/>
                <a:cs typeface="Times New Roman" panose="02020603050405020304" pitchFamily="18" charset="0"/>
              </a:rPr>
              <a:t>Ecosystem Ledger:</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Immutable digital record of landlord-tenant contracts and repayments.</a:t>
            </a:r>
          </a:p>
          <a:p>
            <a:r>
              <a:rPr lang="en-US" b="1" dirty="0">
                <a:latin typeface="Times New Roman" panose="02020603050405020304" pitchFamily="18" charset="0"/>
                <a:cs typeface="Times New Roman" panose="02020603050405020304" pitchFamily="18" charset="0"/>
              </a:rPr>
              <a:t>Agri Stack Integration:</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End-to-end validation through Farmer ID, crop data, and advisory layers.</a:t>
            </a:r>
          </a:p>
          <a:p>
            <a:pPr>
              <a:buNone/>
            </a:pPr>
            <a:endParaRPr lang="en-US" dirty="0">
              <a:latin typeface="Times New Roman" panose="02020603050405020304" pitchFamily="18" charset="0"/>
              <a:cs typeface="Times New Roman" panose="02020603050405020304" pitchFamily="18" charset="0"/>
            </a:endParaRPr>
          </a:p>
          <a:p>
            <a:pPr>
              <a:buNone/>
            </a:pPr>
            <a:endParaRPr lang="en-US" dirty="0">
              <a:latin typeface="Times New Roman" panose="02020603050405020304" pitchFamily="18" charset="0"/>
              <a:cs typeface="Times New Roman" panose="02020603050405020304" pitchFamily="18" charset="0"/>
            </a:endParaRPr>
          </a:p>
          <a:p>
            <a:pPr>
              <a:buNone/>
            </a:pPr>
            <a:endParaRPr lang="en-US" dirty="0">
              <a:latin typeface="Times New Roman" panose="02020603050405020304" pitchFamily="18" charset="0"/>
              <a:cs typeface="Times New Roman" panose="02020603050405020304" pitchFamily="18" charset="0"/>
            </a:endParaRPr>
          </a:p>
          <a:p>
            <a:pPr>
              <a:buNone/>
            </a:pPr>
            <a:endParaRPr lang="en-US" dirty="0">
              <a:latin typeface="Times New Roman" panose="02020603050405020304" pitchFamily="18" charset="0"/>
              <a:cs typeface="Times New Roman" panose="02020603050405020304" pitchFamily="18" charset="0"/>
            </a:endParaRPr>
          </a:p>
          <a:p>
            <a:pPr>
              <a:buNone/>
            </a:pPr>
            <a:endParaRPr lang="en-US" dirty="0">
              <a:latin typeface="Times New Roman" panose="02020603050405020304" pitchFamily="18" charset="0"/>
              <a:cs typeface="Times New Roman" panose="02020603050405020304" pitchFamily="18" charset="0"/>
            </a:endParaRPr>
          </a:p>
          <a:p>
            <a:pPr>
              <a:buNone/>
            </a:pPr>
            <a:endParaRPr lang="en-US" dirty="0">
              <a:latin typeface="Times New Roman" panose="02020603050405020304" pitchFamily="18" charset="0"/>
              <a:cs typeface="Times New Roman" panose="02020603050405020304" pitchFamily="18" charset="0"/>
            </a:endParaRPr>
          </a:p>
          <a:p>
            <a:pPr>
              <a:buNone/>
            </a:pPr>
            <a:endParaRPr lang="en-US" dirty="0">
              <a:latin typeface="Times New Roman" panose="02020603050405020304" pitchFamily="18" charset="0"/>
              <a:cs typeface="Times New Roman" panose="02020603050405020304" pitchFamily="18" charset="0"/>
            </a:endParaRPr>
          </a:p>
          <a:p>
            <a:pPr>
              <a:buNone/>
            </a:pPr>
            <a:endParaRPr lang="en-US" dirty="0">
              <a:latin typeface="Times New Roman" panose="02020603050405020304" pitchFamily="18" charset="0"/>
              <a:cs typeface="Times New Roman" panose="02020603050405020304" pitchFamily="18" charset="0"/>
            </a:endParaRPr>
          </a:p>
          <a:p>
            <a:pPr>
              <a:buNone/>
            </a:pPr>
            <a:endParaRPr lang="en-US" dirty="0">
              <a:latin typeface="Times New Roman" panose="02020603050405020304" pitchFamily="18" charset="0"/>
              <a:cs typeface="Times New Roman" panose="02020603050405020304" pitchFamily="18" charset="0"/>
            </a:endParaRPr>
          </a:p>
          <a:p>
            <a:pPr>
              <a:buNone/>
            </a:pPr>
            <a:endParaRPr lang="en-US" dirty="0">
              <a:latin typeface="Times New Roman" panose="02020603050405020304" pitchFamily="18" charset="0"/>
              <a:cs typeface="Times New Roman" panose="02020603050405020304" pitchFamily="18" charset="0"/>
            </a:endParaRPr>
          </a:p>
          <a:p>
            <a:pPr>
              <a:buNone/>
            </a:pPr>
            <a:endParaRPr lang="en-US" dirty="0">
              <a:latin typeface="Times New Roman" panose="02020603050405020304" pitchFamily="18" charset="0"/>
              <a:cs typeface="Times New Roman" panose="02020603050405020304" pitchFamily="18" charset="0"/>
            </a:endParaRPr>
          </a:p>
          <a:p>
            <a:pPr>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900595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0"/>
        <p:cNvGrpSpPr/>
        <p:nvPr/>
      </p:nvGrpSpPr>
      <p:grpSpPr>
        <a:xfrm>
          <a:off x="0" y="0"/>
          <a:ext cx="0" cy="0"/>
          <a:chOff x="0" y="0"/>
          <a:chExt cx="0" cy="0"/>
        </a:xfrm>
      </p:grpSpPr>
      <p:pic>
        <p:nvPicPr>
          <p:cNvPr id="81" name="Google Shape;81;p16" title="ES.S2.png"/>
          <p:cNvPicPr preferRelativeResize="0"/>
          <p:nvPr/>
        </p:nvPicPr>
        <p:blipFill rotWithShape="1">
          <a:blip r:embed="rId3">
            <a:alphaModFix/>
          </a:blip>
          <a:srcRect t="97977"/>
          <a:stretch/>
        </p:blipFill>
        <p:spPr>
          <a:xfrm>
            <a:off x="0" y="5043428"/>
            <a:ext cx="9143998" cy="104100"/>
          </a:xfrm>
          <a:prstGeom prst="rect">
            <a:avLst/>
          </a:prstGeom>
          <a:noFill/>
          <a:ln>
            <a:noFill/>
          </a:ln>
        </p:spPr>
      </p:pic>
      <p:pic>
        <p:nvPicPr>
          <p:cNvPr id="82" name="Google Shape;82;p16" title="ES.S2.png"/>
          <p:cNvPicPr preferRelativeResize="0"/>
          <p:nvPr/>
        </p:nvPicPr>
        <p:blipFill rotWithShape="1">
          <a:blip r:embed="rId3">
            <a:alphaModFix/>
          </a:blip>
          <a:srcRect r="82528" b="88416"/>
          <a:stretch/>
        </p:blipFill>
        <p:spPr>
          <a:xfrm>
            <a:off x="0" y="0"/>
            <a:ext cx="1328673" cy="495901"/>
          </a:xfrm>
          <a:prstGeom prst="rect">
            <a:avLst/>
          </a:prstGeom>
          <a:noFill/>
          <a:ln>
            <a:noFill/>
          </a:ln>
        </p:spPr>
      </p:pic>
      <p:pic>
        <p:nvPicPr>
          <p:cNvPr id="83" name="Google Shape;83;p16" title="ES.S2.png"/>
          <p:cNvPicPr preferRelativeResize="0"/>
          <p:nvPr/>
        </p:nvPicPr>
        <p:blipFill rotWithShape="1">
          <a:blip r:embed="rId3">
            <a:alphaModFix/>
          </a:blip>
          <a:srcRect l="82528" b="88416"/>
          <a:stretch/>
        </p:blipFill>
        <p:spPr>
          <a:xfrm>
            <a:off x="7815325" y="0"/>
            <a:ext cx="1328673" cy="495901"/>
          </a:xfrm>
          <a:prstGeom prst="rect">
            <a:avLst/>
          </a:prstGeom>
          <a:noFill/>
          <a:ln>
            <a:noFill/>
          </a:ln>
        </p:spPr>
      </p:pic>
      <p:sp>
        <p:nvSpPr>
          <p:cNvPr id="84" name="Google Shape;84;p16"/>
          <p:cNvSpPr txBox="1"/>
          <p:nvPr/>
        </p:nvSpPr>
        <p:spPr>
          <a:xfrm>
            <a:off x="417750" y="740025"/>
            <a:ext cx="8943000" cy="561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600" b="1">
                <a:latin typeface="Geist"/>
                <a:ea typeface="Geist"/>
                <a:cs typeface="Geist"/>
                <a:sym typeface="Geist"/>
              </a:rPr>
              <a:t>List of features offered by the solution</a:t>
            </a:r>
            <a:endParaRPr sz="1600" b="1">
              <a:latin typeface="Geist"/>
              <a:ea typeface="Geist"/>
              <a:cs typeface="Geist"/>
              <a:sym typeface="Geist"/>
            </a:endParaRPr>
          </a:p>
        </p:txBody>
      </p:sp>
      <p:sp>
        <p:nvSpPr>
          <p:cNvPr id="85" name="Google Shape;85;p16"/>
          <p:cNvSpPr txBox="1"/>
          <p:nvPr/>
        </p:nvSpPr>
        <p:spPr>
          <a:xfrm>
            <a:off x="417750" y="1322998"/>
            <a:ext cx="7249142" cy="2311156"/>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IN" dirty="0">
                <a:latin typeface="Times New Roman" panose="02020603050405020304" pitchFamily="18" charset="0"/>
                <a:ea typeface="Geist"/>
                <a:cs typeface="Times New Roman" panose="02020603050405020304" pitchFamily="18" charset="0"/>
                <a:sym typeface="Geist"/>
              </a:rPr>
              <a:t>📱 Farmer Onboarding: Aadhaar e-KYC, tenancy declaration via app/USSD.</a:t>
            </a:r>
          </a:p>
          <a:p>
            <a:pPr marL="0" lvl="0" indent="0" algn="l" rtl="0">
              <a:spcBef>
                <a:spcPts val="0"/>
              </a:spcBef>
              <a:spcAft>
                <a:spcPts val="0"/>
              </a:spcAft>
              <a:buNone/>
            </a:pPr>
            <a:r>
              <a:rPr lang="en-IN" dirty="0">
                <a:latin typeface="Times New Roman" panose="02020603050405020304" pitchFamily="18" charset="0"/>
                <a:ea typeface="Geist"/>
                <a:cs typeface="Times New Roman" panose="02020603050405020304" pitchFamily="18" charset="0"/>
                <a:sym typeface="Geist"/>
              </a:rPr>
              <a:t>🌐 Data Fusion Engine: Combines Agri Stack, satellite, mandi, and input supplier data.</a:t>
            </a:r>
          </a:p>
          <a:p>
            <a:pPr marL="0" lvl="0" indent="0" algn="l" rtl="0">
              <a:spcBef>
                <a:spcPts val="0"/>
              </a:spcBef>
              <a:spcAft>
                <a:spcPts val="0"/>
              </a:spcAft>
              <a:buNone/>
            </a:pPr>
            <a:r>
              <a:rPr lang="en-IN" dirty="0">
                <a:latin typeface="Times New Roman" panose="02020603050405020304" pitchFamily="18" charset="0"/>
                <a:ea typeface="Geist"/>
                <a:cs typeface="Times New Roman" panose="02020603050405020304" pitchFamily="18" charset="0"/>
                <a:sym typeface="Geist"/>
              </a:rPr>
              <a:t>🧮 TCS API: AI-generated credit score + explainability report.</a:t>
            </a:r>
          </a:p>
          <a:p>
            <a:pPr marL="0" lvl="0" indent="0" algn="l" rtl="0">
              <a:spcBef>
                <a:spcPts val="0"/>
              </a:spcBef>
              <a:spcAft>
                <a:spcPts val="0"/>
              </a:spcAft>
              <a:buNone/>
            </a:pPr>
            <a:r>
              <a:rPr lang="en-IN" dirty="0">
                <a:latin typeface="Times New Roman" panose="02020603050405020304" pitchFamily="18" charset="0"/>
                <a:ea typeface="Geist"/>
                <a:cs typeface="Times New Roman" panose="02020603050405020304" pitchFamily="18" charset="0"/>
                <a:sym typeface="Geist"/>
              </a:rPr>
              <a:t>🏦 Lender Dashboard: Portfolio view, loan review, and risk alerts.</a:t>
            </a:r>
          </a:p>
          <a:p>
            <a:pPr marL="0" lvl="0" indent="0" algn="l" rtl="0">
              <a:spcBef>
                <a:spcPts val="0"/>
              </a:spcBef>
              <a:spcAft>
                <a:spcPts val="0"/>
              </a:spcAft>
              <a:buNone/>
            </a:pPr>
            <a:r>
              <a:rPr lang="en-IN" dirty="0">
                <a:latin typeface="Times New Roman" panose="02020603050405020304" pitchFamily="18" charset="0"/>
                <a:ea typeface="Geist"/>
                <a:cs typeface="Times New Roman" panose="02020603050405020304" pitchFamily="18" charset="0"/>
                <a:sym typeface="Geist"/>
              </a:rPr>
              <a:t>🔔 Real-Time Alerts: NDVI-based crop stress and harvest detection.</a:t>
            </a:r>
          </a:p>
          <a:p>
            <a:pPr marL="0" lvl="0" indent="0" algn="l" rtl="0">
              <a:spcBef>
                <a:spcPts val="0"/>
              </a:spcBef>
              <a:spcAft>
                <a:spcPts val="0"/>
              </a:spcAft>
              <a:buNone/>
            </a:pPr>
            <a:r>
              <a:rPr lang="en-IN" dirty="0">
                <a:latin typeface="Times New Roman" panose="02020603050405020304" pitchFamily="18" charset="0"/>
                <a:ea typeface="Geist"/>
                <a:cs typeface="Times New Roman" panose="02020603050405020304" pitchFamily="18" charset="0"/>
                <a:sym typeface="Geist"/>
              </a:rPr>
              <a:t>💰 Automated Loan Lifecycle: Origination → Disbursement → Monitoring → Collection.</a:t>
            </a:r>
          </a:p>
          <a:p>
            <a:pPr marL="0" lvl="0" indent="0" algn="l" rtl="0">
              <a:spcBef>
                <a:spcPts val="0"/>
              </a:spcBef>
              <a:spcAft>
                <a:spcPts val="0"/>
              </a:spcAft>
              <a:buNone/>
            </a:pPr>
            <a:r>
              <a:rPr lang="en-IN" dirty="0">
                <a:latin typeface="Times New Roman" panose="02020603050405020304" pitchFamily="18" charset="0"/>
                <a:ea typeface="Geist"/>
                <a:cs typeface="Times New Roman" panose="02020603050405020304" pitchFamily="18" charset="0"/>
                <a:sym typeface="Geist"/>
              </a:rPr>
              <a:t>📊 Analytics Suite: For NABARD/Bank to track impact and risk.</a:t>
            </a:r>
            <a:endParaRPr dirty="0">
              <a:latin typeface="Times New Roman" panose="02020603050405020304" pitchFamily="18" charset="0"/>
              <a:ea typeface="Geist"/>
              <a:cs typeface="Times New Roman" panose="02020603050405020304" pitchFamily="18" charset="0"/>
              <a:sym typeface="Geist"/>
            </a:endParaRPr>
          </a:p>
        </p:txBody>
      </p:sp>
      <p:pic>
        <p:nvPicPr>
          <p:cNvPr id="86" name="Google Shape;86;p16" title="ES.S2.png"/>
          <p:cNvPicPr preferRelativeResize="0"/>
          <p:nvPr/>
        </p:nvPicPr>
        <p:blipFill rotWithShape="1">
          <a:blip r:embed="rId3">
            <a:alphaModFix/>
          </a:blip>
          <a:srcRect l="32484" r="31501" b="88416"/>
          <a:stretch/>
        </p:blipFill>
        <p:spPr>
          <a:xfrm>
            <a:off x="3399151" y="0"/>
            <a:ext cx="2738802" cy="49590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pic>
        <p:nvPicPr>
          <p:cNvPr id="91" name="Google Shape;91;p17" title="ES.S2.png"/>
          <p:cNvPicPr preferRelativeResize="0"/>
          <p:nvPr/>
        </p:nvPicPr>
        <p:blipFill rotWithShape="1">
          <a:blip r:embed="rId3">
            <a:alphaModFix/>
          </a:blip>
          <a:srcRect t="97977"/>
          <a:stretch/>
        </p:blipFill>
        <p:spPr>
          <a:xfrm>
            <a:off x="0" y="5043428"/>
            <a:ext cx="9143998" cy="104100"/>
          </a:xfrm>
          <a:prstGeom prst="rect">
            <a:avLst/>
          </a:prstGeom>
          <a:noFill/>
          <a:ln>
            <a:noFill/>
          </a:ln>
        </p:spPr>
      </p:pic>
      <p:pic>
        <p:nvPicPr>
          <p:cNvPr id="92" name="Google Shape;92;p17" title="ES.S2.png"/>
          <p:cNvPicPr preferRelativeResize="0"/>
          <p:nvPr/>
        </p:nvPicPr>
        <p:blipFill rotWithShape="1">
          <a:blip r:embed="rId3">
            <a:alphaModFix/>
          </a:blip>
          <a:srcRect r="82528" b="88416"/>
          <a:stretch/>
        </p:blipFill>
        <p:spPr>
          <a:xfrm>
            <a:off x="0" y="0"/>
            <a:ext cx="1328673" cy="495901"/>
          </a:xfrm>
          <a:prstGeom prst="rect">
            <a:avLst/>
          </a:prstGeom>
          <a:noFill/>
          <a:ln>
            <a:noFill/>
          </a:ln>
        </p:spPr>
      </p:pic>
      <p:pic>
        <p:nvPicPr>
          <p:cNvPr id="93" name="Google Shape;93;p17" title="ES.S2.png"/>
          <p:cNvPicPr preferRelativeResize="0"/>
          <p:nvPr/>
        </p:nvPicPr>
        <p:blipFill rotWithShape="1">
          <a:blip r:embed="rId3">
            <a:alphaModFix/>
          </a:blip>
          <a:srcRect l="82528" b="88416"/>
          <a:stretch/>
        </p:blipFill>
        <p:spPr>
          <a:xfrm>
            <a:off x="7815325" y="0"/>
            <a:ext cx="1328673" cy="495901"/>
          </a:xfrm>
          <a:prstGeom prst="rect">
            <a:avLst/>
          </a:prstGeom>
          <a:noFill/>
          <a:ln>
            <a:noFill/>
          </a:ln>
        </p:spPr>
      </p:pic>
      <p:sp>
        <p:nvSpPr>
          <p:cNvPr id="94" name="Google Shape;94;p17"/>
          <p:cNvSpPr txBox="1"/>
          <p:nvPr/>
        </p:nvSpPr>
        <p:spPr>
          <a:xfrm>
            <a:off x="417750" y="515291"/>
            <a:ext cx="8943000" cy="561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600" b="1" dirty="0">
                <a:latin typeface="Geist"/>
                <a:ea typeface="Geist"/>
                <a:cs typeface="Geist"/>
                <a:sym typeface="Geist"/>
              </a:rPr>
              <a:t>Process flow diagram or Use-case diagram</a:t>
            </a:r>
            <a:endParaRPr sz="1600" b="1" dirty="0">
              <a:latin typeface="Geist"/>
              <a:ea typeface="Geist"/>
              <a:cs typeface="Geist"/>
              <a:sym typeface="Geist"/>
            </a:endParaRPr>
          </a:p>
        </p:txBody>
      </p:sp>
      <p:sp>
        <p:nvSpPr>
          <p:cNvPr id="95" name="Google Shape;95;p17"/>
          <p:cNvSpPr txBox="1"/>
          <p:nvPr/>
        </p:nvSpPr>
        <p:spPr>
          <a:xfrm>
            <a:off x="312616" y="1053630"/>
            <a:ext cx="7977944" cy="3800309"/>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dirty="0">
              <a:latin typeface="Geist"/>
              <a:ea typeface="Geist"/>
              <a:cs typeface="Geist"/>
              <a:sym typeface="Geist"/>
            </a:endParaRPr>
          </a:p>
        </p:txBody>
      </p:sp>
      <p:pic>
        <p:nvPicPr>
          <p:cNvPr id="96" name="Google Shape;96;p17" title="ES.S2.png"/>
          <p:cNvPicPr preferRelativeResize="0"/>
          <p:nvPr/>
        </p:nvPicPr>
        <p:blipFill rotWithShape="1">
          <a:blip r:embed="rId3">
            <a:alphaModFix/>
          </a:blip>
          <a:srcRect l="32484" r="31501" b="88416"/>
          <a:stretch/>
        </p:blipFill>
        <p:spPr>
          <a:xfrm>
            <a:off x="3399151" y="0"/>
            <a:ext cx="2738802" cy="495901"/>
          </a:xfrm>
          <a:prstGeom prst="rect">
            <a:avLst/>
          </a:prstGeom>
          <a:noFill/>
          <a:ln>
            <a:noFill/>
          </a:ln>
        </p:spPr>
      </p:pic>
      <p:pic>
        <p:nvPicPr>
          <p:cNvPr id="3" name="Picture 2" descr="A diagram of a flowchart&#10;&#10;AI-generated content may be incorrect.">
            <a:extLst>
              <a:ext uri="{FF2B5EF4-FFF2-40B4-BE49-F238E27FC236}">
                <a16:creationId xmlns:a16="http://schemas.microsoft.com/office/drawing/2014/main" id="{653F8018-4274-1637-56FF-503AE87E9779}"/>
              </a:ext>
            </a:extLst>
          </p:cNvPr>
          <p:cNvPicPr>
            <a:picLocks noChangeAspect="1"/>
          </p:cNvPicPr>
          <p:nvPr/>
        </p:nvPicPr>
        <p:blipFill>
          <a:blip r:embed="rId4"/>
          <a:stretch>
            <a:fillRect/>
          </a:stretch>
        </p:blipFill>
        <p:spPr>
          <a:xfrm>
            <a:off x="853439" y="1096581"/>
            <a:ext cx="6352345" cy="364341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pic>
        <p:nvPicPr>
          <p:cNvPr id="101" name="Google Shape;101;p18" title="ES.S2.png"/>
          <p:cNvPicPr preferRelativeResize="0"/>
          <p:nvPr/>
        </p:nvPicPr>
        <p:blipFill rotWithShape="1">
          <a:blip r:embed="rId3">
            <a:alphaModFix/>
          </a:blip>
          <a:srcRect t="97977"/>
          <a:stretch/>
        </p:blipFill>
        <p:spPr>
          <a:xfrm>
            <a:off x="0" y="5043428"/>
            <a:ext cx="9143998" cy="104100"/>
          </a:xfrm>
          <a:prstGeom prst="rect">
            <a:avLst/>
          </a:prstGeom>
          <a:noFill/>
          <a:ln>
            <a:noFill/>
          </a:ln>
        </p:spPr>
      </p:pic>
      <p:pic>
        <p:nvPicPr>
          <p:cNvPr id="102" name="Google Shape;102;p18" title="ES.S2.png"/>
          <p:cNvPicPr preferRelativeResize="0"/>
          <p:nvPr/>
        </p:nvPicPr>
        <p:blipFill rotWithShape="1">
          <a:blip r:embed="rId3">
            <a:alphaModFix/>
          </a:blip>
          <a:srcRect r="82528" b="88416"/>
          <a:stretch/>
        </p:blipFill>
        <p:spPr>
          <a:xfrm>
            <a:off x="0" y="0"/>
            <a:ext cx="1328673" cy="495901"/>
          </a:xfrm>
          <a:prstGeom prst="rect">
            <a:avLst/>
          </a:prstGeom>
          <a:noFill/>
          <a:ln>
            <a:noFill/>
          </a:ln>
        </p:spPr>
      </p:pic>
      <p:pic>
        <p:nvPicPr>
          <p:cNvPr id="103" name="Google Shape;103;p18" title="ES.S2.png"/>
          <p:cNvPicPr preferRelativeResize="0"/>
          <p:nvPr/>
        </p:nvPicPr>
        <p:blipFill rotWithShape="1">
          <a:blip r:embed="rId3">
            <a:alphaModFix/>
          </a:blip>
          <a:srcRect l="82528" b="88416"/>
          <a:stretch/>
        </p:blipFill>
        <p:spPr>
          <a:xfrm>
            <a:off x="7815325" y="0"/>
            <a:ext cx="1328673" cy="495901"/>
          </a:xfrm>
          <a:prstGeom prst="rect">
            <a:avLst/>
          </a:prstGeom>
          <a:noFill/>
          <a:ln>
            <a:noFill/>
          </a:ln>
        </p:spPr>
      </p:pic>
      <p:sp>
        <p:nvSpPr>
          <p:cNvPr id="104" name="Google Shape;104;p18"/>
          <p:cNvSpPr txBox="1"/>
          <p:nvPr/>
        </p:nvSpPr>
        <p:spPr>
          <a:xfrm>
            <a:off x="417750" y="740025"/>
            <a:ext cx="8943000" cy="443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600" b="1">
                <a:latin typeface="Geist"/>
                <a:ea typeface="Geist"/>
                <a:cs typeface="Geist"/>
                <a:sym typeface="Geist"/>
              </a:rPr>
              <a:t>Wireframes/Mock diagrams of the proposed solution (optional)</a:t>
            </a:r>
            <a:endParaRPr sz="1600" b="1">
              <a:latin typeface="Geist"/>
              <a:ea typeface="Geist"/>
              <a:cs typeface="Geist"/>
              <a:sym typeface="Geist"/>
            </a:endParaRPr>
          </a:p>
        </p:txBody>
      </p:sp>
      <p:sp>
        <p:nvSpPr>
          <p:cNvPr id="105" name="Google Shape;105;p18"/>
          <p:cNvSpPr txBox="1"/>
          <p:nvPr/>
        </p:nvSpPr>
        <p:spPr>
          <a:xfrm>
            <a:off x="417750" y="1183125"/>
            <a:ext cx="8171358" cy="443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dirty="0">
              <a:latin typeface="Geist"/>
              <a:ea typeface="Geist"/>
              <a:cs typeface="Geist"/>
              <a:sym typeface="Geist"/>
            </a:endParaRPr>
          </a:p>
        </p:txBody>
      </p:sp>
      <p:pic>
        <p:nvPicPr>
          <p:cNvPr id="106" name="Google Shape;106;p18" title="ES.S2.png"/>
          <p:cNvPicPr preferRelativeResize="0"/>
          <p:nvPr/>
        </p:nvPicPr>
        <p:blipFill rotWithShape="1">
          <a:blip r:embed="rId3">
            <a:alphaModFix/>
          </a:blip>
          <a:srcRect l="32484" r="31501" b="88416"/>
          <a:stretch/>
        </p:blipFill>
        <p:spPr>
          <a:xfrm>
            <a:off x="3399151" y="0"/>
            <a:ext cx="2738802" cy="495901"/>
          </a:xfrm>
          <a:prstGeom prst="rect">
            <a:avLst/>
          </a:prstGeom>
          <a:noFill/>
          <a:ln>
            <a:noFill/>
          </a:ln>
        </p:spPr>
      </p:pic>
      <p:pic>
        <p:nvPicPr>
          <p:cNvPr id="3" name="Picture 2" descr="A screenshot of a diagram&#10;&#10;AI-generated content may be incorrect.">
            <a:extLst>
              <a:ext uri="{FF2B5EF4-FFF2-40B4-BE49-F238E27FC236}">
                <a16:creationId xmlns:a16="http://schemas.microsoft.com/office/drawing/2014/main" id="{0E06D4DC-38C9-12C0-D59B-E13C234E66C1}"/>
              </a:ext>
            </a:extLst>
          </p:cNvPr>
          <p:cNvPicPr>
            <a:picLocks noChangeAspect="1"/>
          </p:cNvPicPr>
          <p:nvPr/>
        </p:nvPicPr>
        <p:blipFill>
          <a:blip r:embed="rId4"/>
          <a:stretch>
            <a:fillRect/>
          </a:stretch>
        </p:blipFill>
        <p:spPr>
          <a:xfrm>
            <a:off x="201000" y="1789215"/>
            <a:ext cx="8793480" cy="156506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pic>
        <p:nvPicPr>
          <p:cNvPr id="111" name="Google Shape;111;p19" title="ES.S2.png"/>
          <p:cNvPicPr preferRelativeResize="0"/>
          <p:nvPr/>
        </p:nvPicPr>
        <p:blipFill rotWithShape="1">
          <a:blip r:embed="rId3">
            <a:alphaModFix/>
          </a:blip>
          <a:srcRect t="97977"/>
          <a:stretch/>
        </p:blipFill>
        <p:spPr>
          <a:xfrm>
            <a:off x="0" y="5043428"/>
            <a:ext cx="9143998" cy="104100"/>
          </a:xfrm>
          <a:prstGeom prst="rect">
            <a:avLst/>
          </a:prstGeom>
          <a:noFill/>
          <a:ln>
            <a:noFill/>
          </a:ln>
        </p:spPr>
      </p:pic>
      <p:pic>
        <p:nvPicPr>
          <p:cNvPr id="112" name="Google Shape;112;p19" title="ES.S2.png"/>
          <p:cNvPicPr preferRelativeResize="0"/>
          <p:nvPr/>
        </p:nvPicPr>
        <p:blipFill rotWithShape="1">
          <a:blip r:embed="rId3">
            <a:alphaModFix/>
          </a:blip>
          <a:srcRect r="82528" b="88416"/>
          <a:stretch/>
        </p:blipFill>
        <p:spPr>
          <a:xfrm>
            <a:off x="0" y="0"/>
            <a:ext cx="1328673" cy="495901"/>
          </a:xfrm>
          <a:prstGeom prst="rect">
            <a:avLst/>
          </a:prstGeom>
          <a:noFill/>
          <a:ln>
            <a:noFill/>
          </a:ln>
        </p:spPr>
      </p:pic>
      <p:pic>
        <p:nvPicPr>
          <p:cNvPr id="113" name="Google Shape;113;p19" title="ES.S2.png"/>
          <p:cNvPicPr preferRelativeResize="0"/>
          <p:nvPr/>
        </p:nvPicPr>
        <p:blipFill rotWithShape="1">
          <a:blip r:embed="rId3">
            <a:alphaModFix/>
          </a:blip>
          <a:srcRect l="82528" b="88416"/>
          <a:stretch/>
        </p:blipFill>
        <p:spPr>
          <a:xfrm>
            <a:off x="7815325" y="0"/>
            <a:ext cx="1328673" cy="495901"/>
          </a:xfrm>
          <a:prstGeom prst="rect">
            <a:avLst/>
          </a:prstGeom>
          <a:noFill/>
          <a:ln>
            <a:noFill/>
          </a:ln>
        </p:spPr>
      </p:pic>
      <p:sp>
        <p:nvSpPr>
          <p:cNvPr id="114" name="Google Shape;114;p19"/>
          <p:cNvSpPr txBox="1"/>
          <p:nvPr/>
        </p:nvSpPr>
        <p:spPr>
          <a:xfrm>
            <a:off x="0" y="617944"/>
            <a:ext cx="8943000" cy="443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600" b="1" dirty="0">
                <a:latin typeface="Geist"/>
                <a:ea typeface="Geist"/>
                <a:cs typeface="Geist"/>
                <a:sym typeface="Geist"/>
              </a:rPr>
              <a:t>Architecture diagram of the proposed solution</a:t>
            </a:r>
            <a:endParaRPr sz="1600" b="1" dirty="0">
              <a:latin typeface="Geist"/>
              <a:ea typeface="Geist"/>
              <a:cs typeface="Geist"/>
              <a:sym typeface="Geist"/>
            </a:endParaRPr>
          </a:p>
        </p:txBody>
      </p:sp>
      <p:sp>
        <p:nvSpPr>
          <p:cNvPr id="115" name="Google Shape;115;p19"/>
          <p:cNvSpPr txBox="1"/>
          <p:nvPr/>
        </p:nvSpPr>
        <p:spPr>
          <a:xfrm>
            <a:off x="417750" y="1061044"/>
            <a:ext cx="8249512" cy="3823571"/>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dirty="0">
              <a:latin typeface="Geist"/>
              <a:ea typeface="Geist"/>
              <a:cs typeface="Geist"/>
              <a:sym typeface="Geist"/>
            </a:endParaRPr>
          </a:p>
        </p:txBody>
      </p:sp>
      <p:pic>
        <p:nvPicPr>
          <p:cNvPr id="116" name="Google Shape;116;p19" title="ES.S2.png"/>
          <p:cNvPicPr preferRelativeResize="0"/>
          <p:nvPr/>
        </p:nvPicPr>
        <p:blipFill rotWithShape="1">
          <a:blip r:embed="rId3">
            <a:alphaModFix/>
          </a:blip>
          <a:srcRect l="32484" r="31501" b="88416"/>
          <a:stretch/>
        </p:blipFill>
        <p:spPr>
          <a:xfrm>
            <a:off x="3399151" y="0"/>
            <a:ext cx="2738802" cy="495901"/>
          </a:xfrm>
          <a:prstGeom prst="rect">
            <a:avLst/>
          </a:prstGeom>
          <a:noFill/>
          <a:ln>
            <a:noFill/>
          </a:ln>
        </p:spPr>
      </p:pic>
      <p:pic>
        <p:nvPicPr>
          <p:cNvPr id="3" name="Picture 2" descr="A diagram of data layer&#10;&#10;AI-generated content may be incorrect.">
            <a:extLst>
              <a:ext uri="{FF2B5EF4-FFF2-40B4-BE49-F238E27FC236}">
                <a16:creationId xmlns:a16="http://schemas.microsoft.com/office/drawing/2014/main" id="{7B1B72E9-3BB0-54DF-2ECA-0BDF1D653C45}"/>
              </a:ext>
            </a:extLst>
          </p:cNvPr>
          <p:cNvPicPr>
            <a:picLocks noChangeAspect="1"/>
          </p:cNvPicPr>
          <p:nvPr/>
        </p:nvPicPr>
        <p:blipFill>
          <a:blip r:embed="rId4"/>
          <a:stretch>
            <a:fillRect/>
          </a:stretch>
        </p:blipFill>
        <p:spPr>
          <a:xfrm>
            <a:off x="417750" y="1061043"/>
            <a:ext cx="6666535" cy="375490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pic>
        <p:nvPicPr>
          <p:cNvPr id="121" name="Google Shape;121;p20" title="ES.S2.png"/>
          <p:cNvPicPr preferRelativeResize="0"/>
          <p:nvPr/>
        </p:nvPicPr>
        <p:blipFill rotWithShape="1">
          <a:blip r:embed="rId3">
            <a:alphaModFix/>
          </a:blip>
          <a:srcRect t="97977"/>
          <a:stretch/>
        </p:blipFill>
        <p:spPr>
          <a:xfrm>
            <a:off x="0" y="5043428"/>
            <a:ext cx="9143998" cy="104100"/>
          </a:xfrm>
          <a:prstGeom prst="rect">
            <a:avLst/>
          </a:prstGeom>
          <a:noFill/>
          <a:ln>
            <a:noFill/>
          </a:ln>
        </p:spPr>
      </p:pic>
      <p:pic>
        <p:nvPicPr>
          <p:cNvPr id="122" name="Google Shape;122;p20" title="ES.S2.png"/>
          <p:cNvPicPr preferRelativeResize="0"/>
          <p:nvPr/>
        </p:nvPicPr>
        <p:blipFill rotWithShape="1">
          <a:blip r:embed="rId3">
            <a:alphaModFix/>
          </a:blip>
          <a:srcRect r="82528" b="88416"/>
          <a:stretch/>
        </p:blipFill>
        <p:spPr>
          <a:xfrm>
            <a:off x="0" y="0"/>
            <a:ext cx="1328673" cy="495901"/>
          </a:xfrm>
          <a:prstGeom prst="rect">
            <a:avLst/>
          </a:prstGeom>
          <a:noFill/>
          <a:ln>
            <a:noFill/>
          </a:ln>
        </p:spPr>
      </p:pic>
      <p:pic>
        <p:nvPicPr>
          <p:cNvPr id="123" name="Google Shape;123;p20" title="ES.S2.png"/>
          <p:cNvPicPr preferRelativeResize="0"/>
          <p:nvPr/>
        </p:nvPicPr>
        <p:blipFill rotWithShape="1">
          <a:blip r:embed="rId3">
            <a:alphaModFix/>
          </a:blip>
          <a:srcRect l="82528" b="88416"/>
          <a:stretch/>
        </p:blipFill>
        <p:spPr>
          <a:xfrm>
            <a:off x="7815325" y="0"/>
            <a:ext cx="1328673" cy="495901"/>
          </a:xfrm>
          <a:prstGeom prst="rect">
            <a:avLst/>
          </a:prstGeom>
          <a:noFill/>
          <a:ln>
            <a:noFill/>
          </a:ln>
        </p:spPr>
      </p:pic>
      <p:sp>
        <p:nvSpPr>
          <p:cNvPr id="124" name="Google Shape;124;p20"/>
          <p:cNvSpPr txBox="1"/>
          <p:nvPr/>
        </p:nvSpPr>
        <p:spPr>
          <a:xfrm>
            <a:off x="417750" y="740025"/>
            <a:ext cx="8943000" cy="443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600" b="1">
                <a:latin typeface="Geist"/>
                <a:ea typeface="Geist"/>
                <a:cs typeface="Geist"/>
                <a:sym typeface="Geist"/>
              </a:rPr>
              <a:t>Technologies to be used in the solution</a:t>
            </a:r>
            <a:endParaRPr sz="1600" b="1">
              <a:latin typeface="Geist"/>
              <a:ea typeface="Geist"/>
              <a:cs typeface="Geist"/>
              <a:sym typeface="Geist"/>
            </a:endParaRPr>
          </a:p>
        </p:txBody>
      </p:sp>
      <p:sp>
        <p:nvSpPr>
          <p:cNvPr id="125" name="Google Shape;125;p20"/>
          <p:cNvSpPr txBox="1"/>
          <p:nvPr/>
        </p:nvSpPr>
        <p:spPr>
          <a:xfrm>
            <a:off x="417750" y="1427249"/>
            <a:ext cx="8395923" cy="1779782"/>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IN" dirty="0">
                <a:latin typeface="Times New Roman" panose="02020603050405020304" pitchFamily="18" charset="0"/>
                <a:ea typeface="Geist"/>
                <a:cs typeface="Times New Roman" panose="02020603050405020304" pitchFamily="18" charset="0"/>
                <a:sym typeface="Geist"/>
              </a:rPr>
              <a:t>Technologies </a:t>
            </a:r>
            <a:r>
              <a:rPr lang="en-IN" dirty="0" err="1">
                <a:latin typeface="Times New Roman" panose="02020603050405020304" pitchFamily="18" charset="0"/>
                <a:ea typeface="Geist"/>
                <a:cs typeface="Times New Roman" panose="02020603050405020304" pitchFamily="18" charset="0"/>
                <a:sym typeface="Geist"/>
              </a:rPr>
              <a:t>UsedAI</a:t>
            </a:r>
            <a:r>
              <a:rPr lang="en-IN" dirty="0">
                <a:latin typeface="Times New Roman" panose="02020603050405020304" pitchFamily="18" charset="0"/>
                <a:ea typeface="Geist"/>
                <a:cs typeface="Times New Roman" panose="02020603050405020304" pitchFamily="18" charset="0"/>
                <a:sym typeface="Geist"/>
              </a:rPr>
              <a:t>/ML: </a:t>
            </a:r>
            <a:r>
              <a:rPr lang="en-IN" dirty="0" err="1">
                <a:latin typeface="Times New Roman" panose="02020603050405020304" pitchFamily="18" charset="0"/>
                <a:ea typeface="Geist"/>
                <a:cs typeface="Times New Roman" panose="02020603050405020304" pitchFamily="18" charset="0"/>
                <a:sym typeface="Geist"/>
              </a:rPr>
              <a:t>PyTorch</a:t>
            </a:r>
            <a:r>
              <a:rPr lang="en-IN" dirty="0">
                <a:latin typeface="Times New Roman" panose="02020603050405020304" pitchFamily="18" charset="0"/>
                <a:ea typeface="Geist"/>
                <a:cs typeface="Times New Roman" panose="02020603050405020304" pitchFamily="18" charset="0"/>
                <a:sym typeface="Geist"/>
              </a:rPr>
              <a:t>, </a:t>
            </a:r>
            <a:r>
              <a:rPr lang="en-IN" dirty="0" err="1">
                <a:latin typeface="Times New Roman" panose="02020603050405020304" pitchFamily="18" charset="0"/>
                <a:ea typeface="Geist"/>
                <a:cs typeface="Times New Roman" panose="02020603050405020304" pitchFamily="18" charset="0"/>
                <a:sym typeface="Geist"/>
              </a:rPr>
              <a:t>XGBoost</a:t>
            </a:r>
            <a:r>
              <a:rPr lang="en-IN" dirty="0">
                <a:latin typeface="Times New Roman" panose="02020603050405020304" pitchFamily="18" charset="0"/>
                <a:ea typeface="Geist"/>
                <a:cs typeface="Times New Roman" panose="02020603050405020304" pitchFamily="18" charset="0"/>
                <a:sym typeface="Geist"/>
              </a:rPr>
              <a:t>, SHAP, </a:t>
            </a:r>
          </a:p>
          <a:p>
            <a:pPr marL="0" lvl="0" indent="0" algn="l" rtl="0">
              <a:spcBef>
                <a:spcPts val="0"/>
              </a:spcBef>
              <a:spcAft>
                <a:spcPts val="0"/>
              </a:spcAft>
              <a:buNone/>
            </a:pPr>
            <a:r>
              <a:rPr lang="en-IN" dirty="0" err="1">
                <a:latin typeface="Times New Roman" panose="02020603050405020304" pitchFamily="18" charset="0"/>
                <a:ea typeface="Geist"/>
                <a:cs typeface="Times New Roman" panose="02020603050405020304" pitchFamily="18" charset="0"/>
                <a:sym typeface="Geist"/>
              </a:rPr>
              <a:t>MLflowBackend</a:t>
            </a:r>
            <a:r>
              <a:rPr lang="en-IN" dirty="0">
                <a:latin typeface="Times New Roman" panose="02020603050405020304" pitchFamily="18" charset="0"/>
                <a:ea typeface="Geist"/>
                <a:cs typeface="Times New Roman" panose="02020603050405020304" pitchFamily="18" charset="0"/>
                <a:sym typeface="Geist"/>
              </a:rPr>
              <a:t>: </a:t>
            </a:r>
            <a:r>
              <a:rPr lang="en-IN" dirty="0" err="1">
                <a:latin typeface="Times New Roman" panose="02020603050405020304" pitchFamily="18" charset="0"/>
                <a:ea typeface="Geist"/>
                <a:cs typeface="Times New Roman" panose="02020603050405020304" pitchFamily="18" charset="0"/>
                <a:sym typeface="Geist"/>
              </a:rPr>
              <a:t>FastAPI</a:t>
            </a:r>
            <a:r>
              <a:rPr lang="en-IN" dirty="0">
                <a:latin typeface="Times New Roman" panose="02020603050405020304" pitchFamily="18" charset="0"/>
                <a:ea typeface="Geist"/>
                <a:cs typeface="Times New Roman" panose="02020603050405020304" pitchFamily="18" charset="0"/>
                <a:sym typeface="Geist"/>
              </a:rPr>
              <a:t>, Celery, </a:t>
            </a:r>
          </a:p>
          <a:p>
            <a:pPr marL="0" lvl="0" indent="0" algn="l" rtl="0">
              <a:spcBef>
                <a:spcPts val="0"/>
              </a:spcBef>
              <a:spcAft>
                <a:spcPts val="0"/>
              </a:spcAft>
              <a:buNone/>
            </a:pPr>
            <a:r>
              <a:rPr lang="en-IN" dirty="0" err="1">
                <a:latin typeface="Times New Roman" panose="02020603050405020304" pitchFamily="18" charset="0"/>
                <a:ea typeface="Geist"/>
                <a:cs typeface="Times New Roman" panose="02020603050405020304" pitchFamily="18" charset="0"/>
                <a:sym typeface="Geist"/>
              </a:rPr>
              <a:t>GraphQLFrontend</a:t>
            </a:r>
            <a:r>
              <a:rPr lang="en-IN" dirty="0">
                <a:latin typeface="Times New Roman" panose="02020603050405020304" pitchFamily="18" charset="0"/>
                <a:ea typeface="Geist"/>
                <a:cs typeface="Times New Roman" panose="02020603050405020304" pitchFamily="18" charset="0"/>
                <a:sym typeface="Geist"/>
              </a:rPr>
              <a:t>: React.js (Dashboard),</a:t>
            </a:r>
          </a:p>
          <a:p>
            <a:pPr marL="0" lvl="0" indent="0" algn="l" rtl="0">
              <a:spcBef>
                <a:spcPts val="0"/>
              </a:spcBef>
              <a:spcAft>
                <a:spcPts val="0"/>
              </a:spcAft>
              <a:buNone/>
            </a:pPr>
            <a:r>
              <a:rPr lang="en-IN" dirty="0">
                <a:latin typeface="Times New Roman" panose="02020603050405020304" pitchFamily="18" charset="0"/>
                <a:ea typeface="Geist"/>
                <a:cs typeface="Times New Roman" panose="02020603050405020304" pitchFamily="18" charset="0"/>
                <a:sym typeface="Geist"/>
              </a:rPr>
              <a:t> Flutter (Farmer App)Database: PostgreSQL, </a:t>
            </a:r>
            <a:r>
              <a:rPr lang="en-IN" dirty="0" err="1">
                <a:latin typeface="Times New Roman" panose="02020603050405020304" pitchFamily="18" charset="0"/>
                <a:ea typeface="Geist"/>
                <a:cs typeface="Times New Roman" panose="02020603050405020304" pitchFamily="18" charset="0"/>
                <a:sym typeface="Geist"/>
              </a:rPr>
              <a:t>TimescaleDB</a:t>
            </a:r>
            <a:r>
              <a:rPr lang="en-IN" dirty="0">
                <a:latin typeface="Times New Roman" panose="02020603050405020304" pitchFamily="18" charset="0"/>
                <a:ea typeface="Geist"/>
                <a:cs typeface="Times New Roman" panose="02020603050405020304" pitchFamily="18" charset="0"/>
                <a:sym typeface="Geist"/>
              </a:rPr>
              <a:t>, </a:t>
            </a:r>
          </a:p>
          <a:p>
            <a:pPr marL="0" lvl="0" indent="0" algn="l" rtl="0">
              <a:spcBef>
                <a:spcPts val="0"/>
              </a:spcBef>
              <a:spcAft>
                <a:spcPts val="0"/>
              </a:spcAft>
              <a:buNone/>
            </a:pPr>
            <a:r>
              <a:rPr lang="en-IN" dirty="0" err="1">
                <a:latin typeface="Times New Roman" panose="02020603050405020304" pitchFamily="18" charset="0"/>
                <a:ea typeface="Geist"/>
                <a:cs typeface="Times New Roman" panose="02020603050405020304" pitchFamily="18" charset="0"/>
                <a:sym typeface="Geist"/>
              </a:rPr>
              <a:t>RedisCloud</a:t>
            </a:r>
            <a:r>
              <a:rPr lang="en-IN" dirty="0">
                <a:latin typeface="Times New Roman" panose="02020603050405020304" pitchFamily="18" charset="0"/>
                <a:ea typeface="Geist"/>
                <a:cs typeface="Times New Roman" panose="02020603050405020304" pitchFamily="18" charset="0"/>
                <a:sym typeface="Geist"/>
              </a:rPr>
              <a:t>: AWS EC2, S3, </a:t>
            </a:r>
          </a:p>
          <a:p>
            <a:pPr marL="0" lvl="0" indent="0" algn="l" rtl="0">
              <a:spcBef>
                <a:spcPts val="0"/>
              </a:spcBef>
              <a:spcAft>
                <a:spcPts val="0"/>
              </a:spcAft>
              <a:buNone/>
            </a:pPr>
            <a:r>
              <a:rPr lang="en-IN" dirty="0" err="1">
                <a:latin typeface="Times New Roman" panose="02020603050405020304" pitchFamily="18" charset="0"/>
                <a:ea typeface="Geist"/>
                <a:cs typeface="Times New Roman" panose="02020603050405020304" pitchFamily="18" charset="0"/>
                <a:sym typeface="Geist"/>
              </a:rPr>
              <a:t>EKSIntegrations</a:t>
            </a:r>
            <a:r>
              <a:rPr lang="en-IN" dirty="0">
                <a:latin typeface="Times New Roman" panose="02020603050405020304" pitchFamily="18" charset="0"/>
                <a:ea typeface="Geist"/>
                <a:cs typeface="Times New Roman" panose="02020603050405020304" pitchFamily="18" charset="0"/>
                <a:sym typeface="Geist"/>
              </a:rPr>
              <a:t>: Agri Stack (</a:t>
            </a:r>
            <a:r>
              <a:rPr lang="en-IN" dirty="0" err="1">
                <a:latin typeface="Times New Roman" panose="02020603050405020304" pitchFamily="18" charset="0"/>
                <a:ea typeface="Geist"/>
                <a:cs typeface="Times New Roman" panose="02020603050405020304" pitchFamily="18" charset="0"/>
                <a:sym typeface="Geist"/>
              </a:rPr>
              <a:t>FaaS</a:t>
            </a:r>
            <a:r>
              <a:rPr lang="en-IN" dirty="0">
                <a:latin typeface="Times New Roman" panose="02020603050405020304" pitchFamily="18" charset="0"/>
                <a:ea typeface="Geist"/>
                <a:cs typeface="Times New Roman" panose="02020603050405020304" pitchFamily="18" charset="0"/>
                <a:sym typeface="Geist"/>
              </a:rPr>
              <a:t>), </a:t>
            </a:r>
            <a:r>
              <a:rPr lang="en-IN" dirty="0" err="1">
                <a:latin typeface="Times New Roman" panose="02020603050405020304" pitchFamily="18" charset="0"/>
                <a:ea typeface="Geist"/>
                <a:cs typeface="Times New Roman" panose="02020603050405020304" pitchFamily="18" charset="0"/>
                <a:sym typeface="Geist"/>
              </a:rPr>
              <a:t>IndiaStack</a:t>
            </a:r>
            <a:r>
              <a:rPr lang="en-IN" dirty="0">
                <a:latin typeface="Times New Roman" panose="02020603050405020304" pitchFamily="18" charset="0"/>
                <a:ea typeface="Geist"/>
                <a:cs typeface="Times New Roman" panose="02020603050405020304" pitchFamily="18" charset="0"/>
                <a:sym typeface="Geist"/>
              </a:rPr>
              <a:t> (e-KYC/</a:t>
            </a:r>
            <a:r>
              <a:rPr lang="en-IN" dirty="0" err="1">
                <a:latin typeface="Times New Roman" panose="02020603050405020304" pitchFamily="18" charset="0"/>
                <a:ea typeface="Geist"/>
                <a:cs typeface="Times New Roman" panose="02020603050405020304" pitchFamily="18" charset="0"/>
                <a:sym typeface="Geist"/>
              </a:rPr>
              <a:t>eSign</a:t>
            </a:r>
            <a:r>
              <a:rPr lang="en-IN" dirty="0">
                <a:latin typeface="Times New Roman" panose="02020603050405020304" pitchFamily="18" charset="0"/>
                <a:ea typeface="Geist"/>
                <a:cs typeface="Times New Roman" panose="02020603050405020304" pitchFamily="18" charset="0"/>
                <a:sym typeface="Geist"/>
              </a:rPr>
              <a:t>), IMD Weather API, UPI</a:t>
            </a:r>
            <a:endParaRPr dirty="0">
              <a:latin typeface="Times New Roman" panose="02020603050405020304" pitchFamily="18" charset="0"/>
              <a:ea typeface="Geist"/>
              <a:cs typeface="Times New Roman" panose="02020603050405020304" pitchFamily="18" charset="0"/>
              <a:sym typeface="Geist"/>
            </a:endParaRPr>
          </a:p>
        </p:txBody>
      </p:sp>
      <p:pic>
        <p:nvPicPr>
          <p:cNvPr id="126" name="Google Shape;126;p20" title="ES.S2.png"/>
          <p:cNvPicPr preferRelativeResize="0"/>
          <p:nvPr/>
        </p:nvPicPr>
        <p:blipFill rotWithShape="1">
          <a:blip r:embed="rId3">
            <a:alphaModFix/>
          </a:blip>
          <a:srcRect l="32484" r="31501" b="88416"/>
          <a:stretch/>
        </p:blipFill>
        <p:spPr>
          <a:xfrm>
            <a:off x="3399151" y="0"/>
            <a:ext cx="2738802" cy="49590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pic>
        <p:nvPicPr>
          <p:cNvPr id="131" name="Google Shape;131;p21" title="ES.S2.png"/>
          <p:cNvPicPr preferRelativeResize="0"/>
          <p:nvPr/>
        </p:nvPicPr>
        <p:blipFill rotWithShape="1">
          <a:blip r:embed="rId3">
            <a:alphaModFix/>
          </a:blip>
          <a:srcRect t="97977"/>
          <a:stretch/>
        </p:blipFill>
        <p:spPr>
          <a:xfrm>
            <a:off x="0" y="5043428"/>
            <a:ext cx="9143998" cy="104100"/>
          </a:xfrm>
          <a:prstGeom prst="rect">
            <a:avLst/>
          </a:prstGeom>
          <a:noFill/>
          <a:ln>
            <a:noFill/>
          </a:ln>
        </p:spPr>
      </p:pic>
      <p:pic>
        <p:nvPicPr>
          <p:cNvPr id="132" name="Google Shape;132;p21" title="ES.S2.png"/>
          <p:cNvPicPr preferRelativeResize="0"/>
          <p:nvPr/>
        </p:nvPicPr>
        <p:blipFill rotWithShape="1">
          <a:blip r:embed="rId3">
            <a:alphaModFix/>
          </a:blip>
          <a:srcRect r="82528" b="88416"/>
          <a:stretch/>
        </p:blipFill>
        <p:spPr>
          <a:xfrm>
            <a:off x="0" y="0"/>
            <a:ext cx="1328673" cy="495901"/>
          </a:xfrm>
          <a:prstGeom prst="rect">
            <a:avLst/>
          </a:prstGeom>
          <a:noFill/>
          <a:ln>
            <a:noFill/>
          </a:ln>
        </p:spPr>
      </p:pic>
      <p:pic>
        <p:nvPicPr>
          <p:cNvPr id="133" name="Google Shape;133;p21" title="ES.S2.png"/>
          <p:cNvPicPr preferRelativeResize="0"/>
          <p:nvPr/>
        </p:nvPicPr>
        <p:blipFill rotWithShape="1">
          <a:blip r:embed="rId3">
            <a:alphaModFix/>
          </a:blip>
          <a:srcRect l="82528" b="88416"/>
          <a:stretch/>
        </p:blipFill>
        <p:spPr>
          <a:xfrm>
            <a:off x="7815325" y="0"/>
            <a:ext cx="1328673" cy="495901"/>
          </a:xfrm>
          <a:prstGeom prst="rect">
            <a:avLst/>
          </a:prstGeom>
          <a:noFill/>
          <a:ln>
            <a:noFill/>
          </a:ln>
        </p:spPr>
      </p:pic>
      <p:sp>
        <p:nvSpPr>
          <p:cNvPr id="134" name="Google Shape;134;p21"/>
          <p:cNvSpPr txBox="1"/>
          <p:nvPr/>
        </p:nvSpPr>
        <p:spPr>
          <a:xfrm>
            <a:off x="417750" y="740025"/>
            <a:ext cx="8943000" cy="443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600" b="1" dirty="0">
                <a:latin typeface="Geist"/>
                <a:ea typeface="Geist"/>
                <a:cs typeface="Geist"/>
                <a:sym typeface="Geist"/>
              </a:rPr>
              <a:t>Estimated implementation cost (optional)</a:t>
            </a:r>
            <a:endParaRPr sz="1600" b="1" dirty="0">
              <a:latin typeface="Geist"/>
              <a:ea typeface="Geist"/>
              <a:cs typeface="Geist"/>
              <a:sym typeface="Geist"/>
            </a:endParaRPr>
          </a:p>
        </p:txBody>
      </p:sp>
      <p:sp>
        <p:nvSpPr>
          <p:cNvPr id="135" name="Google Shape;135;p21"/>
          <p:cNvSpPr txBox="1"/>
          <p:nvPr/>
        </p:nvSpPr>
        <p:spPr>
          <a:xfrm>
            <a:off x="417750" y="1183125"/>
            <a:ext cx="8943000" cy="443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dirty="0">
              <a:latin typeface="Geist"/>
              <a:ea typeface="Geist"/>
              <a:cs typeface="Geist"/>
              <a:sym typeface="Geist"/>
            </a:endParaRPr>
          </a:p>
        </p:txBody>
      </p:sp>
      <p:pic>
        <p:nvPicPr>
          <p:cNvPr id="136" name="Google Shape;136;p21" title="ES.S2.png"/>
          <p:cNvPicPr preferRelativeResize="0"/>
          <p:nvPr/>
        </p:nvPicPr>
        <p:blipFill rotWithShape="1">
          <a:blip r:embed="rId3">
            <a:alphaModFix/>
          </a:blip>
          <a:srcRect l="32484" r="31501" b="88416"/>
          <a:stretch/>
        </p:blipFill>
        <p:spPr>
          <a:xfrm>
            <a:off x="3399151" y="0"/>
            <a:ext cx="2738802" cy="495901"/>
          </a:xfrm>
          <a:prstGeom prst="rect">
            <a:avLst/>
          </a:prstGeom>
          <a:noFill/>
          <a:ln>
            <a:noFill/>
          </a:ln>
        </p:spPr>
      </p:pic>
      <p:pic>
        <p:nvPicPr>
          <p:cNvPr id="3" name="Picture 2" descr="A screenshot of a computer&#10;&#10;AI-generated content may be incorrect.">
            <a:extLst>
              <a:ext uri="{FF2B5EF4-FFF2-40B4-BE49-F238E27FC236}">
                <a16:creationId xmlns:a16="http://schemas.microsoft.com/office/drawing/2014/main" id="{E3A374D2-1D00-B91B-6074-EC96E5FB07F4}"/>
              </a:ext>
            </a:extLst>
          </p:cNvPr>
          <p:cNvPicPr>
            <a:picLocks noChangeAspect="1"/>
          </p:cNvPicPr>
          <p:nvPr/>
        </p:nvPicPr>
        <p:blipFill>
          <a:blip r:embed="rId4"/>
          <a:stretch>
            <a:fillRect/>
          </a:stretch>
        </p:blipFill>
        <p:spPr>
          <a:xfrm>
            <a:off x="196552" y="387265"/>
            <a:ext cx="9144000" cy="369841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pic>
        <p:nvPicPr>
          <p:cNvPr id="141" name="Google Shape;141;p22" title="ES.S2.png"/>
          <p:cNvPicPr preferRelativeResize="0"/>
          <p:nvPr/>
        </p:nvPicPr>
        <p:blipFill rotWithShape="1">
          <a:blip r:embed="rId3">
            <a:alphaModFix/>
          </a:blip>
          <a:srcRect t="97977"/>
          <a:stretch/>
        </p:blipFill>
        <p:spPr>
          <a:xfrm>
            <a:off x="0" y="5043428"/>
            <a:ext cx="9143998" cy="104100"/>
          </a:xfrm>
          <a:prstGeom prst="rect">
            <a:avLst/>
          </a:prstGeom>
          <a:noFill/>
          <a:ln>
            <a:noFill/>
          </a:ln>
        </p:spPr>
      </p:pic>
      <p:pic>
        <p:nvPicPr>
          <p:cNvPr id="142" name="Google Shape;142;p22" title="ES.S2.png"/>
          <p:cNvPicPr preferRelativeResize="0"/>
          <p:nvPr/>
        </p:nvPicPr>
        <p:blipFill rotWithShape="1">
          <a:blip r:embed="rId3">
            <a:alphaModFix/>
          </a:blip>
          <a:srcRect r="82528" b="88416"/>
          <a:stretch/>
        </p:blipFill>
        <p:spPr>
          <a:xfrm>
            <a:off x="0" y="0"/>
            <a:ext cx="1328673" cy="495901"/>
          </a:xfrm>
          <a:prstGeom prst="rect">
            <a:avLst/>
          </a:prstGeom>
          <a:noFill/>
          <a:ln>
            <a:noFill/>
          </a:ln>
        </p:spPr>
      </p:pic>
      <p:pic>
        <p:nvPicPr>
          <p:cNvPr id="143" name="Google Shape;143;p22" title="ES.S2.png"/>
          <p:cNvPicPr preferRelativeResize="0"/>
          <p:nvPr/>
        </p:nvPicPr>
        <p:blipFill rotWithShape="1">
          <a:blip r:embed="rId3">
            <a:alphaModFix/>
          </a:blip>
          <a:srcRect l="82528" b="88416"/>
          <a:stretch/>
        </p:blipFill>
        <p:spPr>
          <a:xfrm>
            <a:off x="7815325" y="0"/>
            <a:ext cx="1328673" cy="495901"/>
          </a:xfrm>
          <a:prstGeom prst="rect">
            <a:avLst/>
          </a:prstGeom>
          <a:noFill/>
          <a:ln>
            <a:noFill/>
          </a:ln>
        </p:spPr>
      </p:pic>
      <p:sp>
        <p:nvSpPr>
          <p:cNvPr id="144" name="Google Shape;144;p22"/>
          <p:cNvSpPr txBox="1"/>
          <p:nvPr/>
        </p:nvSpPr>
        <p:spPr>
          <a:xfrm>
            <a:off x="417750" y="740025"/>
            <a:ext cx="8943000" cy="443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a:latin typeface="Geist"/>
                <a:ea typeface="Geist"/>
                <a:cs typeface="Geist"/>
                <a:sym typeface="Geist"/>
              </a:rPr>
              <a:t>Type here…</a:t>
            </a:r>
            <a:endParaRPr>
              <a:latin typeface="Geist"/>
              <a:ea typeface="Geist"/>
              <a:cs typeface="Geist"/>
              <a:sym typeface="Geist"/>
            </a:endParaRPr>
          </a:p>
        </p:txBody>
      </p:sp>
      <p:pic>
        <p:nvPicPr>
          <p:cNvPr id="145" name="Google Shape;145;p22" title="ES.S2.png"/>
          <p:cNvPicPr preferRelativeResize="0"/>
          <p:nvPr/>
        </p:nvPicPr>
        <p:blipFill rotWithShape="1">
          <a:blip r:embed="rId3">
            <a:alphaModFix/>
          </a:blip>
          <a:srcRect l="32484" r="31501" b="88416"/>
          <a:stretch/>
        </p:blipFill>
        <p:spPr>
          <a:xfrm>
            <a:off x="3399151" y="0"/>
            <a:ext cx="2738802" cy="49590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150" name="Google Shape;150;p23" title="ES.S3.png"/>
          <p:cNvPicPr preferRelativeResize="0"/>
          <p:nvPr/>
        </p:nvPicPr>
        <p:blipFill>
          <a:blip r:embed="rId3">
            <a:alphaModFix/>
          </a:blip>
          <a:stretch>
            <a:fillRect/>
          </a:stretch>
        </p:blipFill>
        <p:spPr>
          <a:xfrm>
            <a:off x="0" y="0"/>
            <a:ext cx="9143998" cy="5147528"/>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106</TotalTime>
  <Words>585</Words>
  <Application>Microsoft Office PowerPoint</Application>
  <PresentationFormat>On-screen Show (16:9)</PresentationFormat>
  <Paragraphs>57</Paragraphs>
  <Slides>12</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Times New Roman</vt:lpstr>
      <vt:lpstr>Geist</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yessasvini yessasvini</cp:lastModifiedBy>
  <cp:revision>2</cp:revision>
  <dcterms:modified xsi:type="dcterms:W3CDTF">2025-11-12T07:39:02Z</dcterms:modified>
</cp:coreProperties>
</file>